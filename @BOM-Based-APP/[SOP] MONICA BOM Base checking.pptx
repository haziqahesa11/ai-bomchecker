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9"/>
  </p:notesMasterIdLst>
  <p:handoutMasterIdLst>
    <p:handoutMasterId r:id="rId50"/>
  </p:handoutMasterIdLst>
  <p:sldIdLst>
    <p:sldId id="301" r:id="rId6"/>
    <p:sldId id="308" r:id="rId7"/>
    <p:sldId id="309" r:id="rId8"/>
    <p:sldId id="310" r:id="rId9"/>
    <p:sldId id="313" r:id="rId10"/>
    <p:sldId id="311" r:id="rId11"/>
    <p:sldId id="312" r:id="rId12"/>
    <p:sldId id="314" r:id="rId13"/>
    <p:sldId id="315" r:id="rId14"/>
    <p:sldId id="316" r:id="rId15"/>
    <p:sldId id="337" r:id="rId16"/>
    <p:sldId id="318" r:id="rId17"/>
    <p:sldId id="336" r:id="rId18"/>
    <p:sldId id="352" r:id="rId19"/>
    <p:sldId id="320" r:id="rId20"/>
    <p:sldId id="322" r:id="rId21"/>
    <p:sldId id="323" r:id="rId22"/>
    <p:sldId id="325" r:id="rId23"/>
    <p:sldId id="328" r:id="rId24"/>
    <p:sldId id="329" r:id="rId25"/>
    <p:sldId id="326" r:id="rId26"/>
    <p:sldId id="327" r:id="rId27"/>
    <p:sldId id="330" r:id="rId28"/>
    <p:sldId id="332" r:id="rId29"/>
    <p:sldId id="319" r:id="rId30"/>
    <p:sldId id="333" r:id="rId31"/>
    <p:sldId id="334" r:id="rId32"/>
    <p:sldId id="321" r:id="rId33"/>
    <p:sldId id="335" r:id="rId34"/>
    <p:sldId id="338" r:id="rId35"/>
    <p:sldId id="340" r:id="rId36"/>
    <p:sldId id="341" r:id="rId37"/>
    <p:sldId id="342" r:id="rId38"/>
    <p:sldId id="343" r:id="rId39"/>
    <p:sldId id="344" r:id="rId40"/>
    <p:sldId id="345" r:id="rId41"/>
    <p:sldId id="339" r:id="rId42"/>
    <p:sldId id="346" r:id="rId43"/>
    <p:sldId id="348" r:id="rId44"/>
    <p:sldId id="349" r:id="rId45"/>
    <p:sldId id="351" r:id="rId46"/>
    <p:sldId id="350" r:id="rId47"/>
    <p:sldId id="347" r:id="rId4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C10"/>
    <a:srgbClr val="8ED300"/>
    <a:srgbClr val="006C92"/>
    <a:srgbClr val="5185B3"/>
    <a:srgbClr val="D8FF8B"/>
    <a:srgbClr val="BFFF3F"/>
    <a:srgbClr val="8ED200"/>
    <a:srgbClr val="00090E"/>
    <a:srgbClr val="0000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autoAdjust="0"/>
    <p:restoredTop sz="87731" autoAdjust="0"/>
  </p:normalViewPr>
  <p:slideViewPr>
    <p:cSldViewPr snapToGrid="0">
      <p:cViewPr varScale="1">
        <p:scale>
          <a:sx n="73" d="100"/>
          <a:sy n="73" d="100"/>
        </p:scale>
        <p:origin x="822" y="6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7" d="100"/>
          <a:sy n="57" d="100"/>
        </p:scale>
        <p:origin x="18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765BF0-7A23-40E7-BF04-41597708404D}" type="datetimeFigureOut">
              <a:rPr lang="zh-TW" altLang="en-US" smtClean="0"/>
              <a:t>2019/6/11</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905A5B-438E-409D-BE22-26FF2B792767}" type="slidenum">
              <a:rPr lang="zh-TW" altLang="en-US" smtClean="0"/>
              <a:t>‹#›</a:t>
            </a:fld>
            <a:endParaRPr lang="zh-TW" altLang="en-US"/>
          </a:p>
        </p:txBody>
      </p:sp>
    </p:spTree>
    <p:extLst>
      <p:ext uri="{BB962C8B-B14F-4D97-AF65-F5344CB8AC3E}">
        <p14:creationId xmlns:p14="http://schemas.microsoft.com/office/powerpoint/2010/main" val="37626244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B0F2F-6923-453A-903D-A095B9E6791D}" type="datetimeFigureOut">
              <a:rPr lang="zh-TW" altLang="en-US" smtClean="0"/>
              <a:t>2019/6/11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0B985-E026-4BB2-A0BB-B820AE58CDD0}" type="slidenum">
              <a:rPr lang="zh-TW" altLang="en-US" smtClean="0"/>
              <a:t>‹#›</a:t>
            </a:fld>
            <a:endParaRPr lang="zh-TW" altLang="en-US"/>
          </a:p>
        </p:txBody>
      </p:sp>
    </p:spTree>
    <p:extLst>
      <p:ext uri="{BB962C8B-B14F-4D97-AF65-F5344CB8AC3E}">
        <p14:creationId xmlns:p14="http://schemas.microsoft.com/office/powerpoint/2010/main" val="3722466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a:off x="10403680" y="6066950"/>
            <a:ext cx="1650208" cy="45719"/>
          </a:xfrm>
          <a:prstGeom prst="rect">
            <a:avLst/>
          </a:prstGeom>
          <a:gradFill>
            <a:gsLst>
              <a:gs pos="0">
                <a:srgbClr val="00090E"/>
              </a:gs>
              <a:gs pos="100000">
                <a:srgbClr val="000000"/>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userDrawn="1"/>
        </p:nvSpPr>
        <p:spPr>
          <a:xfrm>
            <a:off x="11903868" y="6103144"/>
            <a:ext cx="52388" cy="57435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03680" y="6103144"/>
            <a:ext cx="1398708" cy="583200"/>
          </a:xfrm>
          <a:prstGeom prst="rect">
            <a:avLst/>
          </a:prstGeom>
        </p:spPr>
      </p:pic>
      <p:sp>
        <p:nvSpPr>
          <p:cNvPr id="9" name="標題 1"/>
          <p:cNvSpPr>
            <a:spLocks noGrp="1"/>
          </p:cNvSpPr>
          <p:nvPr>
            <p:ph type="ctrTitle" hasCustomPrompt="1"/>
          </p:nvPr>
        </p:nvSpPr>
        <p:spPr>
          <a:xfrm>
            <a:off x="4932945" y="2745570"/>
            <a:ext cx="7259055" cy="720000"/>
          </a:xfrm>
          <a:prstGeom prst="rect">
            <a:avLst/>
          </a:prstGeom>
        </p:spPr>
        <p:txBody>
          <a:bodyPr anchor="b">
            <a:noAutofit/>
          </a:bodyPr>
          <a:lstStyle>
            <a:lvl1pPr algn="l">
              <a:defRPr sz="4800" b="1">
                <a:solidFill>
                  <a:schemeClr val="bg1"/>
                </a:solidFill>
                <a:latin typeface="Microsoft YaHei" panose="020B0503020204020204" pitchFamily="34" charset="-122"/>
                <a:ea typeface="Microsoft YaHei" panose="020B0503020204020204" pitchFamily="34" charset="-122"/>
              </a:defRPr>
            </a:lvl1pPr>
          </a:lstStyle>
          <a:p>
            <a:r>
              <a:rPr lang="en-US" altLang="zh-TW" dirty="0" smtClean="0"/>
              <a:t>Presentation Title</a:t>
            </a:r>
            <a:endParaRPr lang="zh-TW" altLang="en-US" dirty="0"/>
          </a:p>
        </p:txBody>
      </p:sp>
      <p:sp>
        <p:nvSpPr>
          <p:cNvPr id="11" name="副標題 2"/>
          <p:cNvSpPr>
            <a:spLocks noGrp="1"/>
          </p:cNvSpPr>
          <p:nvPr>
            <p:ph type="subTitle" idx="1" hasCustomPrompt="1"/>
          </p:nvPr>
        </p:nvSpPr>
        <p:spPr>
          <a:xfrm>
            <a:off x="4932946" y="3465570"/>
            <a:ext cx="7259054" cy="720000"/>
          </a:xfrm>
          <a:prstGeom prst="rect">
            <a:avLst/>
          </a:prstGeom>
        </p:spPr>
        <p:txBody>
          <a:bodyPr>
            <a:normAutofit/>
          </a:bodyPr>
          <a:lstStyle>
            <a:lvl1pPr marL="0" indent="0" algn="l">
              <a:buNone/>
              <a:defRPr sz="2800" b="1">
                <a:solidFill>
                  <a:schemeClr val="bg1">
                    <a:lumMod val="65000"/>
                  </a:schemeClr>
                </a:solidFill>
                <a:latin typeface="Microsoft YaHei" panose="020B0503020204020204" pitchFamily="34" charset="-122"/>
                <a:ea typeface="Microsoft YaHe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dirty="0" smtClean="0"/>
              <a:t>Presentation Subtitle</a:t>
            </a:r>
            <a:endParaRPr lang="zh-TW" altLang="en-US" dirty="0"/>
          </a:p>
        </p:txBody>
      </p:sp>
      <p:sp>
        <p:nvSpPr>
          <p:cNvPr id="13" name="文字版面配置區 5"/>
          <p:cNvSpPr>
            <a:spLocks noGrp="1"/>
          </p:cNvSpPr>
          <p:nvPr>
            <p:ph type="body" sz="quarter" idx="11" hasCustomPrompt="1"/>
          </p:nvPr>
        </p:nvSpPr>
        <p:spPr>
          <a:xfrm>
            <a:off x="5004933" y="4988378"/>
            <a:ext cx="6388783" cy="415925"/>
          </a:xfrm>
          <a:prstGeom prst="rect">
            <a:avLst/>
          </a:prstGeom>
        </p:spPr>
        <p:txBody>
          <a:bodyPr/>
          <a:lstStyle>
            <a:lvl1pPr marL="0" indent="0">
              <a:buNone/>
              <a:defRPr lang="zh-TW" altLang="en-US" sz="2400" b="1" kern="1200" dirty="0" smtClean="0">
                <a:solidFill>
                  <a:schemeClr val="bg1">
                    <a:lumMod val="65000"/>
                  </a:schemeClr>
                </a:solidFill>
                <a:latin typeface="Microsoft YaHei" panose="020B0503020204020204" pitchFamily="34" charset="-122"/>
                <a:ea typeface="Microsoft YaHei" panose="020B0503020204020204" pitchFamily="34" charset="-122"/>
                <a:cs typeface="+mn-cs"/>
              </a:defRPr>
            </a:lvl1pPr>
          </a:lstStyle>
          <a:p>
            <a:pPr lvl="0"/>
            <a:r>
              <a:rPr lang="en-US" altLang="zh-TW" dirty="0" smtClean="0"/>
              <a:t>Date</a:t>
            </a:r>
            <a:endParaRPr lang="zh-TW" altLang="en-US" dirty="0" smtClean="0"/>
          </a:p>
        </p:txBody>
      </p:sp>
      <p:sp>
        <p:nvSpPr>
          <p:cNvPr id="3" name="文字版面配置區 2"/>
          <p:cNvSpPr>
            <a:spLocks noGrp="1"/>
          </p:cNvSpPr>
          <p:nvPr>
            <p:ph type="body" sz="quarter" idx="12" hasCustomPrompt="1"/>
          </p:nvPr>
        </p:nvSpPr>
        <p:spPr>
          <a:xfrm>
            <a:off x="5007204" y="4403284"/>
            <a:ext cx="6386512" cy="570580"/>
          </a:xfrm>
          <a:prstGeom prst="rect">
            <a:avLst/>
          </a:prstGeom>
        </p:spPr>
        <p:txBody>
          <a:bodyPr/>
          <a:lstStyle>
            <a:lvl1pPr marL="0" indent="0">
              <a:buNone/>
              <a:defRPr lang="zh-TW" altLang="en-US" sz="2400" b="1" kern="1200" dirty="0" smtClean="0">
                <a:solidFill>
                  <a:schemeClr val="bg1">
                    <a:lumMod val="65000"/>
                  </a:schemeClr>
                </a:solidFill>
                <a:latin typeface="Microsoft YaHei" panose="020B0503020204020204" pitchFamily="34" charset="-122"/>
                <a:ea typeface="Microsoft YaHei" panose="020B0503020204020204" pitchFamily="34" charset="-122"/>
                <a:cs typeface="+mn-cs"/>
              </a:defRPr>
            </a:lvl1pPr>
          </a:lstStyle>
          <a:p>
            <a:pPr lvl="0"/>
            <a:r>
              <a:rPr lang="en-US" altLang="zh-TW" dirty="0" smtClean="0"/>
              <a:t>Speaker</a:t>
            </a:r>
            <a:endParaRPr lang="zh-TW" altLang="en-US" dirty="0"/>
          </a:p>
        </p:txBody>
      </p:sp>
    </p:spTree>
    <p:extLst>
      <p:ext uri="{BB962C8B-B14F-4D97-AF65-F5344CB8AC3E}">
        <p14:creationId xmlns:p14="http://schemas.microsoft.com/office/powerpoint/2010/main" val="1314966497"/>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扉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標題 5"/>
          <p:cNvSpPr>
            <a:spLocks noGrp="1"/>
          </p:cNvSpPr>
          <p:nvPr>
            <p:ph type="title" hasCustomPrompt="1"/>
          </p:nvPr>
        </p:nvSpPr>
        <p:spPr>
          <a:xfrm>
            <a:off x="4602746" y="1809750"/>
            <a:ext cx="7436854" cy="1655820"/>
          </a:xfrm>
          <a:prstGeom prst="rect">
            <a:avLst/>
          </a:prstGeom>
        </p:spPr>
        <p:txBody>
          <a:bodyPr anchor="b"/>
          <a:lstStyle>
            <a:lvl1pPr>
              <a:defRPr sz="4800" b="1" baseline="0">
                <a:solidFill>
                  <a:srgbClr val="006C92"/>
                </a:solidFill>
                <a:latin typeface="Microsoft YaHei" panose="020B0503020204020204" pitchFamily="34" charset="-122"/>
                <a:ea typeface="Microsoft YaHei" panose="020B0503020204020204" pitchFamily="34" charset="-122"/>
              </a:defRPr>
            </a:lvl1pPr>
          </a:lstStyle>
          <a:p>
            <a:r>
              <a:rPr lang="en-US" altLang="zh-TW" dirty="0" smtClean="0"/>
              <a:t>Presentation Title</a:t>
            </a:r>
            <a:endParaRPr lang="zh-TW" altLang="en-US" dirty="0"/>
          </a:p>
        </p:txBody>
      </p:sp>
      <p:sp>
        <p:nvSpPr>
          <p:cNvPr id="5" name="內容版面配置區 7"/>
          <p:cNvSpPr>
            <a:spLocks noGrp="1"/>
          </p:cNvSpPr>
          <p:nvPr>
            <p:ph sz="quarter" idx="10" hasCustomPrompt="1"/>
          </p:nvPr>
        </p:nvSpPr>
        <p:spPr>
          <a:xfrm>
            <a:off x="4602746" y="3478270"/>
            <a:ext cx="6781800" cy="1008062"/>
          </a:xfrm>
          <a:prstGeom prst="rect">
            <a:avLst/>
          </a:prstGeom>
        </p:spPr>
        <p:txBody>
          <a:bodyPr/>
          <a:lstStyle>
            <a:lvl1pPr marL="457200" indent="-457200">
              <a:buFont typeface="Arial" panose="020B0604020202020204" pitchFamily="34" charset="0"/>
              <a:buChar char="•"/>
              <a:defRPr sz="3600" b="1">
                <a:solidFill>
                  <a:schemeClr val="bg1">
                    <a:lumMod val="50000"/>
                  </a:schemeClr>
                </a:solidFill>
                <a:latin typeface="Microsoft YaHei" panose="020B0503020204020204" pitchFamily="34" charset="-122"/>
                <a:ea typeface="Microsoft YaHei" panose="020B0503020204020204" pitchFamily="34" charset="-122"/>
              </a:defRPr>
            </a:lvl1pPr>
          </a:lstStyle>
          <a:p>
            <a:pPr lvl="0"/>
            <a:r>
              <a:rPr lang="en-US" altLang="zh-TW" dirty="0" smtClean="0"/>
              <a:t>Presentation Subtitle</a:t>
            </a:r>
            <a:endParaRPr lang="zh-TW" altLang="en-US" dirty="0" smtClean="0"/>
          </a:p>
        </p:txBody>
      </p:sp>
    </p:spTree>
    <p:extLst>
      <p:ext uri="{BB962C8B-B14F-4D97-AF65-F5344CB8AC3E}">
        <p14:creationId xmlns:p14="http://schemas.microsoft.com/office/powerpoint/2010/main" val="2280735131"/>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內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內容版面配置區 2"/>
          <p:cNvSpPr>
            <a:spLocks noGrp="1"/>
          </p:cNvSpPr>
          <p:nvPr>
            <p:ph sz="quarter" idx="17" hasCustomPrompt="1"/>
          </p:nvPr>
        </p:nvSpPr>
        <p:spPr>
          <a:xfrm>
            <a:off x="838200" y="865188"/>
            <a:ext cx="11049000" cy="5802312"/>
          </a:xfrm>
          <a:prstGeom prst="rect">
            <a:avLst/>
          </a:prstGeom>
        </p:spPr>
        <p:txBody>
          <a:bodyPr/>
          <a:lstStyle>
            <a:lvl1pPr marL="228600" indent="-228600" algn="l" defTabSz="914400" rtl="0" eaLnBrk="1" latinLnBrk="0" hangingPunct="1">
              <a:lnSpc>
                <a:spcPct val="150000"/>
              </a:lnSpc>
              <a:buFont typeface="Arial" panose="020B0604020202020204" pitchFamily="34" charset="0"/>
              <a:buChar char="•"/>
              <a:defRPr lang="zh-TW" altLang="en-US" sz="2800" b="1" kern="1200" baseline="0" dirty="0" smtClean="0">
                <a:solidFill>
                  <a:schemeClr val="tx1">
                    <a:lumMod val="75000"/>
                    <a:lumOff val="25000"/>
                  </a:schemeClr>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50000"/>
              </a:lnSpc>
              <a:buFont typeface="Arial" panose="020B0604020202020204" pitchFamily="34" charset="0"/>
              <a:buChar char="•"/>
              <a:defRPr lang="zh-TW" altLang="en-US" sz="2800" b="0" kern="1200" dirty="0" smtClean="0">
                <a:solidFill>
                  <a:schemeClr val="tx1">
                    <a:lumMod val="50000"/>
                    <a:lumOff val="50000"/>
                  </a:schemeClr>
                </a:solidFill>
                <a:latin typeface="Microsoft YaHei" panose="020B0503020204020204" pitchFamily="34" charset="-122"/>
                <a:ea typeface="Microsoft YaHei" panose="020B0503020204020204" pitchFamily="34" charset="-122"/>
                <a:cs typeface="+mn-cs"/>
              </a:defRPr>
            </a:lvl2pPr>
          </a:lstStyle>
          <a:p>
            <a:pPr lvl="0"/>
            <a:r>
              <a:rPr lang="en-US" altLang="zh-TW" dirty="0" smtClean="0"/>
              <a:t>Context</a:t>
            </a:r>
          </a:p>
          <a:p>
            <a:pPr lvl="1"/>
            <a:r>
              <a:rPr lang="en-US" altLang="zh-TW" dirty="0" smtClean="0"/>
              <a:t>Next Level</a:t>
            </a:r>
            <a:endParaRPr lang="zh-TW" altLang="en-US" dirty="0"/>
          </a:p>
        </p:txBody>
      </p:sp>
      <p:pic>
        <p:nvPicPr>
          <p:cNvPr id="17" name="圖片 16"/>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12192000" cy="685800"/>
          </a:xfrm>
          <a:prstGeom prst="rect">
            <a:avLst/>
          </a:prstGeom>
        </p:spPr>
      </p:pic>
      <p:sp>
        <p:nvSpPr>
          <p:cNvPr id="10" name="投影片編號版面配置區 5"/>
          <p:cNvSpPr>
            <a:spLocks noGrp="1"/>
          </p:cNvSpPr>
          <p:nvPr>
            <p:ph type="sldNum" sz="quarter" idx="12"/>
          </p:nvPr>
        </p:nvSpPr>
        <p:spPr>
          <a:xfrm>
            <a:off x="11688680" y="6404476"/>
            <a:ext cx="403058" cy="365125"/>
          </a:xfrm>
          <a:prstGeom prst="rect">
            <a:avLst/>
          </a:prstGeom>
        </p:spPr>
        <p:txBody>
          <a:bodyPr/>
          <a:lstStyle>
            <a:lvl1pPr>
              <a:defRPr sz="1200">
                <a:solidFill>
                  <a:schemeClr val="accent6">
                    <a:lumMod val="60000"/>
                    <a:lumOff val="40000"/>
                  </a:schemeClr>
                </a:solidFill>
                <a:latin typeface="Myriad Pro" panose="020B0503030403020204" pitchFamily="34" charset="0"/>
              </a:defRPr>
            </a:lvl1pPr>
          </a:lstStyle>
          <a:p>
            <a:fld id="{FE21BC48-8395-4992-84A5-93A60A18EA34}" type="slidenum">
              <a:rPr lang="zh-TW" altLang="en-US" smtClean="0"/>
              <a:pPr/>
              <a:t>‹#›</a:t>
            </a:fld>
            <a:endParaRPr lang="zh-TW" altLang="en-US" dirty="0"/>
          </a:p>
        </p:txBody>
      </p:sp>
      <p:sp>
        <p:nvSpPr>
          <p:cNvPr id="11" name="文字版面配置區 2"/>
          <p:cNvSpPr>
            <a:spLocks noGrp="1"/>
          </p:cNvSpPr>
          <p:nvPr>
            <p:ph type="body" sz="quarter" idx="15" hasCustomPrompt="1"/>
          </p:nvPr>
        </p:nvSpPr>
        <p:spPr>
          <a:xfrm>
            <a:off x="838200" y="365124"/>
            <a:ext cx="11049000" cy="661523"/>
          </a:xfrm>
          <a:prstGeom prst="rect">
            <a:avLst/>
          </a:prstGeom>
        </p:spPr>
        <p:txBody>
          <a:bodyPr/>
          <a:lstStyle>
            <a:lvl1pPr marL="0" indent="0">
              <a:buNone/>
              <a:defRPr lang="zh-TW" altLang="en-US" sz="3600" b="1" kern="1200" dirty="0" smtClean="0">
                <a:solidFill>
                  <a:srgbClr val="006C92"/>
                </a:solidFill>
                <a:latin typeface="Microsoft YaHei" panose="020B0503020204020204" pitchFamily="34" charset="-122"/>
                <a:ea typeface="Microsoft YaHei" panose="020B0503020204020204" pitchFamily="34" charset="-122"/>
                <a:cs typeface="+mj-cs"/>
              </a:defRPr>
            </a:lvl1pPr>
          </a:lstStyle>
          <a:p>
            <a:pPr lvl="0"/>
            <a:r>
              <a:rPr lang="en-US" altLang="zh-TW" dirty="0" smtClean="0"/>
              <a:t>Title</a:t>
            </a:r>
            <a:endParaRPr lang="zh-TW" altLang="en-US" dirty="0" smtClean="0"/>
          </a:p>
        </p:txBody>
      </p:sp>
    </p:spTree>
    <p:extLst>
      <p:ext uri="{BB962C8B-B14F-4D97-AF65-F5344CB8AC3E}">
        <p14:creationId xmlns:p14="http://schemas.microsoft.com/office/powerpoint/2010/main" val="56157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圖表說明頁">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365124"/>
            <a:ext cx="12192000" cy="499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標題 1"/>
          <p:cNvSpPr>
            <a:spLocks noGrp="1"/>
          </p:cNvSpPr>
          <p:nvPr>
            <p:ph type="ctrTitle" hasCustomPrompt="1"/>
          </p:nvPr>
        </p:nvSpPr>
        <p:spPr>
          <a:xfrm>
            <a:off x="0" y="5524230"/>
            <a:ext cx="12192000" cy="927369"/>
          </a:xfrm>
          <a:prstGeom prst="rect">
            <a:avLst/>
          </a:prstGeom>
        </p:spPr>
        <p:txBody>
          <a:bodyPr anchor="t">
            <a:noAutofit/>
          </a:bodyPr>
          <a:lstStyle>
            <a:lvl1pPr algn="ctr">
              <a:defRPr sz="2800" b="0">
                <a:solidFill>
                  <a:schemeClr val="bg1"/>
                </a:solidFill>
                <a:latin typeface="Microsoft YaHei" panose="020B0503020204020204" pitchFamily="34" charset="-122"/>
                <a:ea typeface="Microsoft YaHei" panose="020B0503020204020204" pitchFamily="34" charset="-122"/>
              </a:defRPr>
            </a:lvl1pPr>
          </a:lstStyle>
          <a:p>
            <a:r>
              <a:rPr lang="en-US" altLang="zh-TW" dirty="0" smtClean="0"/>
              <a:t>Example or Table Description</a:t>
            </a:r>
            <a:endParaRPr lang="zh-TW" altLang="en-US" dirty="0"/>
          </a:p>
        </p:txBody>
      </p:sp>
      <p:sp>
        <p:nvSpPr>
          <p:cNvPr id="8" name="內容版面配置區 5"/>
          <p:cNvSpPr>
            <a:spLocks noGrp="1"/>
          </p:cNvSpPr>
          <p:nvPr>
            <p:ph sz="quarter" idx="10" hasCustomPrompt="1"/>
          </p:nvPr>
        </p:nvSpPr>
        <p:spPr>
          <a:xfrm>
            <a:off x="838200" y="862012"/>
            <a:ext cx="10287000" cy="4474229"/>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b="1">
                <a:solidFill>
                  <a:schemeClr val="bg1"/>
                </a:solidFill>
                <a:latin typeface="Microsoft YaHei" panose="020B0503020204020204" pitchFamily="34" charset="-122"/>
                <a:ea typeface="Microsoft YaHei" panose="020B0503020204020204" pitchFamily="34" charset="-122"/>
              </a:defRPr>
            </a:lvl1pPr>
            <a:lvl2pPr marL="685800" indent="-228600" algn="l" defTabSz="914400" rtl="0" eaLnBrk="1" latinLnBrk="0" hangingPunct="1">
              <a:lnSpc>
                <a:spcPct val="150000"/>
              </a:lnSpc>
              <a:spcBef>
                <a:spcPts val="500"/>
              </a:spcBef>
              <a:buFont typeface="Arial" panose="020B0604020202020204" pitchFamily="34" charset="0"/>
              <a:buChar char="•"/>
              <a:defRPr b="0">
                <a:solidFill>
                  <a:schemeClr val="bg1"/>
                </a:solidFill>
                <a:latin typeface="Microsoft YaHei" panose="020B0503020204020204" pitchFamily="34" charset="-122"/>
                <a:ea typeface="Microsoft YaHei" panose="020B0503020204020204" pitchFamily="34" charset="-122"/>
              </a:defRPr>
            </a:lvl2pPr>
          </a:lstStyle>
          <a:p>
            <a:pPr marL="228600" lvl="0" indent="-228600" algn="l" defTabSz="914400" rtl="0" eaLnBrk="1" latinLnBrk="0" hangingPunct="1">
              <a:lnSpc>
                <a:spcPct val="150000"/>
              </a:lnSpc>
              <a:spcBef>
                <a:spcPts val="1000"/>
              </a:spcBef>
              <a:buFont typeface="Arial" panose="020B0604020202020204" pitchFamily="34" charset="0"/>
              <a:buChar char="•"/>
            </a:pPr>
            <a:r>
              <a:rPr lang="en-US" altLang="zh-TW" dirty="0" smtClean="0"/>
              <a:t>Context</a:t>
            </a:r>
            <a:endParaRPr lang="zh-TW" altLang="en-US" dirty="0" smtClean="0"/>
          </a:p>
          <a:p>
            <a:pPr marL="685800" lvl="1" indent="-228600" algn="l" defTabSz="914400" rtl="0" eaLnBrk="1" latinLnBrk="0" hangingPunct="1">
              <a:lnSpc>
                <a:spcPct val="150000"/>
              </a:lnSpc>
              <a:spcBef>
                <a:spcPts val="500"/>
              </a:spcBef>
              <a:buFont typeface="Arial" panose="020B0604020202020204" pitchFamily="34" charset="0"/>
              <a:buChar char="•"/>
            </a:pPr>
            <a:r>
              <a:rPr lang="en-US" altLang="zh-TW" dirty="0" smtClean="0"/>
              <a:t>Next Level</a:t>
            </a:r>
            <a:endParaRPr lang="zh-TW" altLang="en-US" dirty="0" smtClean="0"/>
          </a:p>
        </p:txBody>
      </p:sp>
      <p:pic>
        <p:nvPicPr>
          <p:cNvPr id="11" name="圖片 10"/>
          <p:cNvPicPr>
            <a:picLocks noChangeAspect="1"/>
          </p:cNvPicPr>
          <p:nvPr userDrawn="1"/>
        </p:nvPicPr>
        <p:blipFill rotWithShape="1">
          <a:blip r:embed="rId2"/>
          <a:srcRect b="90000"/>
          <a:stretch/>
        </p:blipFill>
        <p:spPr>
          <a:xfrm>
            <a:off x="0" y="0"/>
            <a:ext cx="12192000" cy="685800"/>
          </a:xfrm>
          <a:prstGeom prst="rect">
            <a:avLst/>
          </a:prstGeom>
        </p:spPr>
      </p:pic>
      <p:sp>
        <p:nvSpPr>
          <p:cNvPr id="15" name="文字版面配置區 12"/>
          <p:cNvSpPr>
            <a:spLocks noGrp="1"/>
          </p:cNvSpPr>
          <p:nvPr>
            <p:ph type="body" sz="quarter" idx="11" hasCustomPrompt="1"/>
          </p:nvPr>
        </p:nvSpPr>
        <p:spPr>
          <a:xfrm>
            <a:off x="838200" y="365124"/>
            <a:ext cx="11353800" cy="592138"/>
          </a:xfrm>
          <a:prstGeom prst="rect">
            <a:avLst/>
          </a:prstGeom>
        </p:spPr>
        <p:txBody>
          <a:bodyPr/>
          <a:lstStyle>
            <a:lvl1pPr marL="0" indent="0">
              <a:buNone/>
              <a:defRPr sz="3600" b="1">
                <a:solidFill>
                  <a:srgbClr val="006C92"/>
                </a:solidFill>
                <a:latin typeface="Microsoft YaHei" panose="020B0503020204020204" pitchFamily="34" charset="-122"/>
                <a:ea typeface="Microsoft YaHei" panose="020B0503020204020204" pitchFamily="34" charset="-122"/>
              </a:defRPr>
            </a:lvl1pPr>
          </a:lstStyle>
          <a:p>
            <a:pPr lvl="0"/>
            <a:r>
              <a:rPr lang="en-US" altLang="zh-TW" dirty="0" smtClean="0"/>
              <a:t>Title</a:t>
            </a:r>
            <a:endParaRPr lang="zh-TW" altLang="en-US" dirty="0" smtClean="0"/>
          </a:p>
        </p:txBody>
      </p:sp>
    </p:spTree>
    <p:extLst>
      <p:ext uri="{BB962C8B-B14F-4D97-AF65-F5344CB8AC3E}">
        <p14:creationId xmlns:p14="http://schemas.microsoft.com/office/powerpoint/2010/main" val="4463008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關鍵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圖片 1"/>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5018637" y="2640983"/>
            <a:ext cx="2159000" cy="596900"/>
          </a:xfrm>
          <a:prstGeom prst="rect">
            <a:avLst/>
          </a:prstGeom>
        </p:spPr>
      </p:pic>
      <p:sp>
        <p:nvSpPr>
          <p:cNvPr id="4" name="標題 1"/>
          <p:cNvSpPr>
            <a:spLocks noGrp="1"/>
          </p:cNvSpPr>
          <p:nvPr>
            <p:ph type="ctrTitle" hasCustomPrompt="1"/>
          </p:nvPr>
        </p:nvSpPr>
        <p:spPr>
          <a:xfrm>
            <a:off x="0" y="2540000"/>
            <a:ext cx="12192000" cy="1452955"/>
          </a:xfrm>
          <a:prstGeom prst="rect">
            <a:avLst/>
          </a:prstGeom>
        </p:spPr>
        <p:txBody>
          <a:bodyPr anchor="ctr">
            <a:noAutofit/>
          </a:bodyPr>
          <a:lstStyle>
            <a:lvl1pPr algn="ctr">
              <a:defRPr sz="6600" b="1">
                <a:solidFill>
                  <a:schemeClr val="bg1"/>
                </a:solidFill>
                <a:latin typeface="Microsoft YaHei" panose="020B0503020204020204" pitchFamily="34" charset="-122"/>
                <a:ea typeface="Microsoft YaHei" panose="020B0503020204020204" pitchFamily="34" charset="-122"/>
              </a:defRPr>
            </a:lvl1pPr>
          </a:lstStyle>
          <a:p>
            <a:r>
              <a:rPr lang="en-US" altLang="zh-TW" dirty="0" smtClean="0"/>
              <a:t>Key Words</a:t>
            </a:r>
            <a:endParaRPr lang="zh-TW" altLang="en-US" dirty="0"/>
          </a:p>
        </p:txBody>
      </p:sp>
      <p:pic>
        <p:nvPicPr>
          <p:cNvPr id="5" name="圖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1815" y="359445"/>
            <a:ext cx="1398708" cy="583200"/>
          </a:xfrm>
          <a:prstGeom prst="rect">
            <a:avLst/>
          </a:prstGeom>
        </p:spPr>
      </p:pic>
    </p:spTree>
    <p:extLst>
      <p:ext uri="{BB962C8B-B14F-4D97-AF65-F5344CB8AC3E}">
        <p14:creationId xmlns:p14="http://schemas.microsoft.com/office/powerpoint/2010/main" val="2433535626"/>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底">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標題 1"/>
          <p:cNvSpPr>
            <a:spLocks noGrp="1"/>
          </p:cNvSpPr>
          <p:nvPr>
            <p:ph type="ctrTitle" hasCustomPrompt="1"/>
          </p:nvPr>
        </p:nvSpPr>
        <p:spPr>
          <a:xfrm>
            <a:off x="0" y="2968155"/>
            <a:ext cx="12192000" cy="720000"/>
          </a:xfrm>
          <a:prstGeom prst="rect">
            <a:avLst/>
          </a:prstGeom>
        </p:spPr>
        <p:txBody>
          <a:bodyPr anchor="ctr">
            <a:noAutofit/>
          </a:bodyPr>
          <a:lstStyle>
            <a:lvl1pPr algn="ctr">
              <a:defRPr sz="5400" b="1" baseline="0">
                <a:solidFill>
                  <a:schemeClr val="bg1"/>
                </a:solidFill>
                <a:latin typeface="Microsoft YaHei" panose="020B0503020204020204" pitchFamily="34" charset="-122"/>
                <a:ea typeface="Microsoft YaHei" panose="020B0503020204020204" pitchFamily="34" charset="-122"/>
              </a:defRPr>
            </a:lvl1pPr>
          </a:lstStyle>
          <a:p>
            <a:r>
              <a:rPr lang="en-US" altLang="zh-TW" dirty="0" smtClean="0"/>
              <a:t>Backup</a:t>
            </a:r>
            <a:endParaRPr lang="zh-TW" altLang="en-US" dirty="0"/>
          </a:p>
        </p:txBody>
      </p:sp>
    </p:spTree>
    <p:extLst>
      <p:ext uri="{BB962C8B-B14F-4D97-AF65-F5344CB8AC3E}">
        <p14:creationId xmlns:p14="http://schemas.microsoft.com/office/powerpoint/2010/main" val="51031808"/>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備忘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a:xfrm>
            <a:off x="11688680" y="6404476"/>
            <a:ext cx="403058" cy="365125"/>
          </a:xfrm>
          <a:prstGeom prst="rect">
            <a:avLst/>
          </a:prstGeom>
        </p:spPr>
        <p:txBody>
          <a:bodyPr/>
          <a:lstStyle>
            <a:lvl1pPr>
              <a:defRPr sz="1200">
                <a:solidFill>
                  <a:schemeClr val="accent6">
                    <a:lumMod val="60000"/>
                    <a:lumOff val="40000"/>
                  </a:schemeClr>
                </a:solidFill>
                <a:latin typeface="Myriad Pro" panose="020B0503030403020204" pitchFamily="34" charset="0"/>
              </a:defRPr>
            </a:lvl1pPr>
          </a:lstStyle>
          <a:p>
            <a:fld id="{FE21BC48-8395-4992-84A5-93A60A18EA34}" type="slidenum">
              <a:rPr lang="zh-TW" altLang="en-US" smtClean="0"/>
              <a:pPr/>
              <a:t>‹#›</a:t>
            </a:fld>
            <a:endParaRPr lang="zh-TW" altLang="en-US" dirty="0"/>
          </a:p>
        </p:txBody>
      </p:sp>
      <p:sp>
        <p:nvSpPr>
          <p:cNvPr id="5" name="矩形 4"/>
          <p:cNvSpPr/>
          <p:nvPr userDrawn="1"/>
        </p:nvSpPr>
        <p:spPr>
          <a:xfrm>
            <a:off x="0" y="1415846"/>
            <a:ext cx="12192000" cy="4911694"/>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標題 1"/>
          <p:cNvSpPr>
            <a:spLocks noGrp="1"/>
          </p:cNvSpPr>
          <p:nvPr>
            <p:ph type="title" hasCustomPrompt="1"/>
          </p:nvPr>
        </p:nvSpPr>
        <p:spPr>
          <a:xfrm>
            <a:off x="0" y="533400"/>
            <a:ext cx="12192000" cy="661988"/>
          </a:xfrm>
          <a:prstGeom prst="rect">
            <a:avLst/>
          </a:prstGeom>
          <a:solidFill>
            <a:schemeClr val="bg1">
              <a:alpha val="80000"/>
            </a:schemeClr>
          </a:solidFill>
        </p:spPr>
        <p:txBody>
          <a:bodyPr/>
          <a:lstStyle>
            <a:lvl1pPr algn="ctr">
              <a:defRPr b="1" baseline="0">
                <a:solidFill>
                  <a:srgbClr val="006C92"/>
                </a:solidFill>
                <a:latin typeface="Microsoft YaHei" panose="020B0503020204020204" pitchFamily="34" charset="-122"/>
                <a:ea typeface="Microsoft YaHei" panose="020B0503020204020204" pitchFamily="34" charset="-122"/>
              </a:defRPr>
            </a:lvl1pPr>
          </a:lstStyle>
          <a:p>
            <a:r>
              <a:rPr lang="en-US" altLang="zh-TW" dirty="0" smtClean="0"/>
              <a:t>Title</a:t>
            </a:r>
            <a:endParaRPr lang="zh-TW" altLang="en-US" dirty="0"/>
          </a:p>
        </p:txBody>
      </p:sp>
      <p:sp>
        <p:nvSpPr>
          <p:cNvPr id="8" name="內容版面配置區 8"/>
          <p:cNvSpPr>
            <a:spLocks noGrp="1"/>
          </p:cNvSpPr>
          <p:nvPr>
            <p:ph sz="quarter" idx="11" hasCustomPrompt="1"/>
          </p:nvPr>
        </p:nvSpPr>
        <p:spPr>
          <a:xfrm>
            <a:off x="419100" y="1728788"/>
            <a:ext cx="11472862" cy="4598752"/>
          </a:xfrm>
          <a:prstGeom prst="rect">
            <a:avLst/>
          </a:prstGeom>
        </p:spPr>
        <p:txBody>
          <a:bodyPr/>
          <a:lstStyle>
            <a:lvl1pPr>
              <a:defRPr sz="2800" b="1">
                <a:solidFill>
                  <a:srgbClr val="006C92"/>
                </a:solidFill>
                <a:latin typeface="Microsoft YaHei" panose="020B0503020204020204" pitchFamily="34" charset="-122"/>
                <a:ea typeface="Microsoft YaHei" panose="020B0503020204020204" pitchFamily="34" charset="-122"/>
              </a:defRPr>
            </a:lvl1pPr>
            <a:lvl2pPr>
              <a:defRPr sz="2400" b="0">
                <a:solidFill>
                  <a:srgbClr val="006C92"/>
                </a:solidFill>
                <a:latin typeface="Microsoft YaHei" panose="020B0503020204020204" pitchFamily="34" charset="-122"/>
                <a:ea typeface="Microsoft YaHei" panose="020B0503020204020204" pitchFamily="34" charset="-122"/>
              </a:defRPr>
            </a:lvl2pPr>
            <a:lvl3pPr>
              <a:defRPr sz="2000" b="0">
                <a:solidFill>
                  <a:srgbClr val="006C92"/>
                </a:solidFill>
                <a:latin typeface="Microsoft YaHei" panose="020B0503020204020204" pitchFamily="34" charset="-122"/>
                <a:ea typeface="Microsoft YaHei" panose="020B0503020204020204" pitchFamily="34" charset="-122"/>
              </a:defRPr>
            </a:lvl3pPr>
            <a:lvl4pPr>
              <a:defRPr sz="1800" b="1">
                <a:solidFill>
                  <a:srgbClr val="006C92"/>
                </a:solidFill>
                <a:latin typeface="Microsoft YaHei" panose="020B0503020204020204" pitchFamily="34" charset="-122"/>
                <a:ea typeface="Microsoft YaHei" panose="020B0503020204020204" pitchFamily="34" charset="-122"/>
              </a:defRPr>
            </a:lvl4pPr>
            <a:lvl5pPr>
              <a:defRPr sz="1800" b="1">
                <a:solidFill>
                  <a:srgbClr val="006C92"/>
                </a:solidFill>
                <a:latin typeface="Microsoft YaHei" panose="020B0503020204020204" pitchFamily="34" charset="-122"/>
                <a:ea typeface="Microsoft YaHei" panose="020B0503020204020204" pitchFamily="34" charset="-122"/>
              </a:defRPr>
            </a:lvl5pPr>
          </a:lstStyle>
          <a:p>
            <a:pPr lvl="0"/>
            <a:r>
              <a:rPr lang="en-US" altLang="zh-TW" dirty="0" smtClean="0"/>
              <a:t>Context </a:t>
            </a:r>
          </a:p>
          <a:p>
            <a:pPr lvl="1"/>
            <a:r>
              <a:rPr lang="en-US" altLang="zh-TW" dirty="0" smtClean="0"/>
              <a:t>Next Level</a:t>
            </a:r>
          </a:p>
        </p:txBody>
      </p:sp>
    </p:spTree>
    <p:extLst>
      <p:ext uri="{BB962C8B-B14F-4D97-AF65-F5344CB8AC3E}">
        <p14:creationId xmlns:p14="http://schemas.microsoft.com/office/powerpoint/2010/main" val="2929471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477235"/>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1" r:id="rId4"/>
    <p:sldLayoutId id="2147483652" r:id="rId5"/>
    <p:sldLayoutId id="2147483653" r:id="rId6"/>
    <p:sldLayoutId id="214748365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wpqssvr.wistron.com.tw/wpqs_plm.htm" TargetMode="External"/><Relationship Id="rId2" Type="http://schemas.openxmlformats.org/officeDocument/2006/relationships/image" Target="../media/image31.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hyperlink" Target="http://wpqssvr.wistron.com.tw/wpqs_plm.htm" TargetMode="External"/><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a:xfrm>
            <a:off x="4336869" y="2048691"/>
            <a:ext cx="7759337" cy="1920240"/>
          </a:xfrm>
        </p:spPr>
        <p:txBody>
          <a:bodyPr anchor="ctr"/>
          <a:lstStyle/>
          <a:p>
            <a:r>
              <a:rPr lang="en-US" altLang="zh-TW" sz="4400" dirty="0" smtClean="0">
                <a:solidFill>
                  <a:srgbClr val="0070C0"/>
                </a:solidFill>
              </a:rPr>
              <a:t>MONICA TEST PROGRAM PARAMETER CHECKING</a:t>
            </a:r>
            <a:endParaRPr lang="zh-TW" altLang="en-US" sz="4400" dirty="0">
              <a:solidFill>
                <a:srgbClr val="0070C0"/>
              </a:solidFill>
            </a:endParaRPr>
          </a:p>
        </p:txBody>
      </p:sp>
    </p:spTree>
    <p:extLst>
      <p:ext uri="{BB962C8B-B14F-4D97-AF65-F5344CB8AC3E}">
        <p14:creationId xmlns:p14="http://schemas.microsoft.com/office/powerpoint/2010/main" val="1948578986"/>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2"/>
          <p:cNvSpPr>
            <a:spLocks noGrp="1"/>
          </p:cNvSpPr>
          <p:nvPr>
            <p:ph type="body" sz="quarter" idx="15"/>
          </p:nvPr>
        </p:nvSpPr>
        <p:spPr>
          <a:xfrm>
            <a:off x="838200" y="365124"/>
            <a:ext cx="11049000" cy="1110979"/>
          </a:xfrm>
        </p:spPr>
        <p:txBody>
          <a:bodyPr/>
          <a:lstStyle/>
          <a:p>
            <a:r>
              <a:rPr lang="en-US" altLang="zh-TW" dirty="0" smtClean="0"/>
              <a:t>How to </a:t>
            </a:r>
            <a:r>
              <a:rPr lang="en-US" altLang="zh-TW" dirty="0" smtClean="0">
                <a:solidFill>
                  <a:srgbClr val="FF0000"/>
                </a:solidFill>
              </a:rPr>
              <a:t>check</a:t>
            </a:r>
            <a:r>
              <a:rPr lang="en-US" altLang="zh-TW" dirty="0" smtClean="0"/>
              <a:t> test parameters/configuration for MONICA BOM base test program</a:t>
            </a:r>
            <a:endParaRPr lang="zh-TW" altLang="en-US" dirty="0"/>
          </a:p>
        </p:txBody>
      </p:sp>
      <p:sp>
        <p:nvSpPr>
          <p:cNvPr id="3" name="文字方塊 2"/>
          <p:cNvSpPr txBox="1"/>
          <p:nvPr/>
        </p:nvSpPr>
        <p:spPr>
          <a:xfrm>
            <a:off x="576942" y="1645922"/>
            <a:ext cx="5445035" cy="1200329"/>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What you need before checking</a:t>
            </a:r>
          </a:p>
          <a:p>
            <a:r>
              <a:rPr lang="en-US" altLang="zh-TW" sz="2400" dirty="0" smtClean="0">
                <a:solidFill>
                  <a:schemeClr val="tx1"/>
                </a:solidFill>
              </a:rPr>
              <a:t>1)CRD Document</a:t>
            </a:r>
          </a:p>
          <a:p>
            <a:r>
              <a:rPr lang="en-US" altLang="zh-TW" sz="2400" dirty="0" smtClean="0">
                <a:solidFill>
                  <a:schemeClr val="tx1"/>
                </a:solidFill>
              </a:rPr>
              <a:t>2)Cross Table</a:t>
            </a:r>
          </a:p>
        </p:txBody>
      </p:sp>
    </p:spTree>
    <p:extLst>
      <p:ext uri="{BB962C8B-B14F-4D97-AF65-F5344CB8AC3E}">
        <p14:creationId xmlns:p14="http://schemas.microsoft.com/office/powerpoint/2010/main" val="1657895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1)Execute “</a:t>
            </a:r>
            <a:r>
              <a:rPr lang="en-US" altLang="zh-TW" sz="2400" dirty="0" err="1" smtClean="0">
                <a:solidFill>
                  <a:schemeClr val="tx1"/>
                </a:solidFill>
              </a:rPr>
              <a:t>MonicaTPGenerator</a:t>
            </a:r>
            <a:r>
              <a:rPr lang="en-US" altLang="zh-TW" sz="2400" dirty="0" smtClean="0">
                <a:solidFill>
                  <a:schemeClr val="tx1"/>
                </a:solidFill>
              </a:rPr>
              <a:t>” on the desktop of the DDNS </a:t>
            </a:r>
          </a:p>
        </p:txBody>
      </p:sp>
      <p:pic>
        <p:nvPicPr>
          <p:cNvPr id="4" name="圖片 3"/>
          <p:cNvPicPr>
            <a:picLocks noChangeAspect="1"/>
          </p:cNvPicPr>
          <p:nvPr/>
        </p:nvPicPr>
        <p:blipFill>
          <a:blip r:embed="rId2"/>
          <a:stretch>
            <a:fillRect/>
          </a:stretch>
        </p:blipFill>
        <p:spPr>
          <a:xfrm>
            <a:off x="412568" y="1262800"/>
            <a:ext cx="1675176" cy="1765239"/>
          </a:xfrm>
          <a:prstGeom prst="rect">
            <a:avLst/>
          </a:prstGeom>
        </p:spPr>
      </p:pic>
      <p:sp>
        <p:nvSpPr>
          <p:cNvPr id="6" name="文字方塊 5"/>
          <p:cNvSpPr txBox="1"/>
          <p:nvPr/>
        </p:nvSpPr>
        <p:spPr>
          <a:xfrm>
            <a:off x="302621" y="3326677"/>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2)Go to “Test BOM” tab</a:t>
            </a:r>
          </a:p>
        </p:txBody>
      </p:sp>
      <p:pic>
        <p:nvPicPr>
          <p:cNvPr id="7" name="圖片 6"/>
          <p:cNvPicPr>
            <a:picLocks noChangeAspect="1"/>
          </p:cNvPicPr>
          <p:nvPr/>
        </p:nvPicPr>
        <p:blipFill>
          <a:blip r:embed="rId3"/>
          <a:stretch>
            <a:fillRect/>
          </a:stretch>
        </p:blipFill>
        <p:spPr>
          <a:xfrm>
            <a:off x="412568" y="3858068"/>
            <a:ext cx="7543800" cy="2524125"/>
          </a:xfrm>
          <a:prstGeom prst="rect">
            <a:avLst/>
          </a:prstGeom>
        </p:spPr>
      </p:pic>
    </p:spTree>
    <p:extLst>
      <p:ext uri="{BB962C8B-B14F-4D97-AF65-F5344CB8AC3E}">
        <p14:creationId xmlns:p14="http://schemas.microsoft.com/office/powerpoint/2010/main" val="104920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10722429" cy="1200329"/>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3)Select “Model Reference”</a:t>
            </a:r>
          </a:p>
          <a:p>
            <a:r>
              <a:rPr lang="en-US" altLang="zh-TW" sz="2400" dirty="0" smtClean="0">
                <a:solidFill>
                  <a:schemeClr val="tx1"/>
                </a:solidFill>
              </a:rPr>
              <a:t>C1042_L10 </a:t>
            </a:r>
            <a:r>
              <a:rPr lang="en-US" altLang="zh-TW" sz="1400" dirty="0" smtClean="0">
                <a:solidFill>
                  <a:srgbClr val="FF0000"/>
                </a:solidFill>
              </a:rPr>
              <a:t>(will be C1042.FULL.L10 in the future) </a:t>
            </a:r>
            <a:r>
              <a:rPr lang="en-US" altLang="zh-TW" sz="2400" dirty="0" smtClean="0">
                <a:solidFill>
                  <a:schemeClr val="tx1"/>
                </a:solidFill>
              </a:rPr>
              <a:t>for Mt. Stuart L10/L11 test</a:t>
            </a:r>
          </a:p>
          <a:p>
            <a:r>
              <a:rPr lang="en-US" altLang="zh-TW" sz="2400" dirty="0" smtClean="0">
                <a:solidFill>
                  <a:schemeClr val="tx1"/>
                </a:solidFill>
              </a:rPr>
              <a:t>C1042_L11 </a:t>
            </a:r>
            <a:r>
              <a:rPr lang="en-US" altLang="zh-TW" sz="1400" dirty="0">
                <a:solidFill>
                  <a:srgbClr val="FF0000"/>
                </a:solidFill>
              </a:rPr>
              <a:t>(will be </a:t>
            </a:r>
            <a:r>
              <a:rPr lang="en-US" altLang="zh-TW" sz="1400" dirty="0" smtClean="0">
                <a:solidFill>
                  <a:srgbClr val="FF0000"/>
                </a:solidFill>
              </a:rPr>
              <a:t>C1042.FULL.L11 </a:t>
            </a:r>
            <a:r>
              <a:rPr lang="en-US" altLang="zh-TW" sz="1400" dirty="0">
                <a:solidFill>
                  <a:srgbClr val="FF0000"/>
                </a:solidFill>
              </a:rPr>
              <a:t>in the future) </a:t>
            </a:r>
            <a:r>
              <a:rPr lang="en-US" altLang="zh-TW" sz="2400" dirty="0">
                <a:solidFill>
                  <a:schemeClr val="tx1"/>
                </a:solidFill>
              </a:rPr>
              <a:t>for Mt. Stuart </a:t>
            </a:r>
            <a:r>
              <a:rPr lang="en-US" altLang="zh-TW" sz="2400" dirty="0" smtClean="0">
                <a:solidFill>
                  <a:schemeClr val="tx1"/>
                </a:solidFill>
              </a:rPr>
              <a:t>L11 </a:t>
            </a:r>
            <a:r>
              <a:rPr lang="en-US" altLang="zh-TW" sz="2400" dirty="0" err="1" smtClean="0">
                <a:solidFill>
                  <a:schemeClr val="tx1"/>
                </a:solidFill>
              </a:rPr>
              <a:t>PoT</a:t>
            </a:r>
            <a:r>
              <a:rPr lang="en-US" altLang="zh-TW" sz="2400" dirty="0" smtClean="0">
                <a:solidFill>
                  <a:schemeClr val="tx1"/>
                </a:solidFill>
              </a:rPr>
              <a:t> test</a:t>
            </a:r>
            <a:endParaRPr lang="en-US" altLang="zh-TW" sz="2400" dirty="0">
              <a:solidFill>
                <a:schemeClr val="tx1"/>
              </a:solidFill>
            </a:endParaRPr>
          </a:p>
        </p:txBody>
      </p:sp>
      <p:pic>
        <p:nvPicPr>
          <p:cNvPr id="5" name="圖片 4"/>
          <p:cNvPicPr>
            <a:picLocks noChangeAspect="1"/>
          </p:cNvPicPr>
          <p:nvPr/>
        </p:nvPicPr>
        <p:blipFill>
          <a:blip r:embed="rId2"/>
          <a:stretch>
            <a:fillRect/>
          </a:stretch>
        </p:blipFill>
        <p:spPr>
          <a:xfrm>
            <a:off x="302622" y="1866537"/>
            <a:ext cx="7648575" cy="2657475"/>
          </a:xfrm>
          <a:prstGeom prst="rect">
            <a:avLst/>
          </a:prstGeom>
        </p:spPr>
      </p:pic>
    </p:spTree>
    <p:extLst>
      <p:ext uri="{BB962C8B-B14F-4D97-AF65-F5344CB8AC3E}">
        <p14:creationId xmlns:p14="http://schemas.microsoft.com/office/powerpoint/2010/main" val="2228924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11427824" cy="1569660"/>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a:solidFill>
                  <a:schemeClr val="tx1"/>
                </a:solidFill>
              </a:rPr>
              <a:t>4</a:t>
            </a:r>
            <a:r>
              <a:rPr lang="en-US" altLang="zh-TW" sz="2400" dirty="0" smtClean="0">
                <a:solidFill>
                  <a:schemeClr val="tx1"/>
                </a:solidFill>
              </a:rPr>
              <a:t>)Select “Part Number”</a:t>
            </a:r>
          </a:p>
          <a:p>
            <a:r>
              <a:rPr lang="en-US" altLang="zh-TW" sz="2400" dirty="0" smtClean="0">
                <a:solidFill>
                  <a:schemeClr val="tx1"/>
                </a:solidFill>
              </a:rPr>
              <a:t>If the Part Number that you would like to check does not exist in the list.</a:t>
            </a:r>
          </a:p>
          <a:p>
            <a:r>
              <a:rPr lang="en-US" altLang="zh-TW" sz="2400" dirty="0" smtClean="0">
                <a:solidFill>
                  <a:schemeClr val="tx1"/>
                </a:solidFill>
              </a:rPr>
              <a:t>It means the test does not support yet, please contact TE to generate configuration for test!</a:t>
            </a:r>
          </a:p>
        </p:txBody>
      </p:sp>
      <p:pic>
        <p:nvPicPr>
          <p:cNvPr id="7" name="圖片 6"/>
          <p:cNvPicPr>
            <a:picLocks noChangeAspect="1"/>
          </p:cNvPicPr>
          <p:nvPr/>
        </p:nvPicPr>
        <p:blipFill>
          <a:blip r:embed="rId2"/>
          <a:stretch>
            <a:fillRect/>
          </a:stretch>
        </p:blipFill>
        <p:spPr>
          <a:xfrm>
            <a:off x="427808" y="2558869"/>
            <a:ext cx="8496300" cy="2943225"/>
          </a:xfrm>
          <a:prstGeom prst="rect">
            <a:avLst/>
          </a:prstGeom>
        </p:spPr>
      </p:pic>
    </p:spTree>
    <p:extLst>
      <p:ext uri="{BB962C8B-B14F-4D97-AF65-F5344CB8AC3E}">
        <p14:creationId xmlns:p14="http://schemas.microsoft.com/office/powerpoint/2010/main" val="330107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498566" y="2091259"/>
            <a:ext cx="8266612" cy="4570797"/>
          </a:xfrm>
          <a:prstGeom prst="rect">
            <a:avLst/>
          </a:prstGeom>
        </p:spPr>
      </p:pic>
      <p:sp>
        <p:nvSpPr>
          <p:cNvPr id="6" name="文字方塊 5"/>
          <p:cNvSpPr txBox="1"/>
          <p:nvPr/>
        </p:nvSpPr>
        <p:spPr>
          <a:xfrm>
            <a:off x="302622" y="666208"/>
            <a:ext cx="11427824" cy="1200329"/>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5)Check if </a:t>
            </a:r>
            <a:r>
              <a:rPr lang="en-US" altLang="zh-TW" sz="2400" dirty="0" smtClean="0">
                <a:solidFill>
                  <a:srgbClr val="FF0000"/>
                </a:solidFill>
              </a:rPr>
              <a:t>Revision follow the CRD. </a:t>
            </a:r>
          </a:p>
          <a:p>
            <a:r>
              <a:rPr lang="en-US" altLang="zh-TW" sz="2400" dirty="0" smtClean="0">
                <a:solidFill>
                  <a:schemeClr val="tx1"/>
                </a:solidFill>
              </a:rPr>
              <a:t>   Check if </a:t>
            </a:r>
            <a:r>
              <a:rPr lang="en-US" altLang="zh-TW" sz="2400" dirty="0" smtClean="0">
                <a:solidFill>
                  <a:srgbClr val="FF0000"/>
                </a:solidFill>
              </a:rPr>
              <a:t>CPN follow the cross table.</a:t>
            </a:r>
          </a:p>
          <a:p>
            <a:r>
              <a:rPr lang="en-US" altLang="zh-TW" sz="2400" dirty="0" smtClean="0">
                <a:solidFill>
                  <a:schemeClr val="tx1"/>
                </a:solidFill>
              </a:rPr>
              <a:t>If not contact TE to submit a change for reviewing</a:t>
            </a:r>
          </a:p>
        </p:txBody>
      </p:sp>
    </p:spTree>
    <p:extLst>
      <p:ext uri="{BB962C8B-B14F-4D97-AF65-F5344CB8AC3E}">
        <p14:creationId xmlns:p14="http://schemas.microsoft.com/office/powerpoint/2010/main" val="205934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302622" y="666208"/>
            <a:ext cx="7691847" cy="378565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6)Basically, the check items for Mt. Stuart would be</a:t>
            </a:r>
          </a:p>
          <a:p>
            <a:r>
              <a:rPr lang="en-US" altLang="zh-TW" sz="2400" dirty="0" smtClean="0">
                <a:solidFill>
                  <a:schemeClr val="tx1"/>
                </a:solidFill>
              </a:rPr>
              <a:t>1)BIOS</a:t>
            </a:r>
          </a:p>
          <a:p>
            <a:r>
              <a:rPr lang="en-US" altLang="zh-TW" sz="2400" dirty="0" smtClean="0">
                <a:solidFill>
                  <a:schemeClr val="tx1"/>
                </a:solidFill>
              </a:rPr>
              <a:t>2)BMC</a:t>
            </a:r>
          </a:p>
          <a:p>
            <a:r>
              <a:rPr lang="en-US" altLang="zh-TW" sz="2400" dirty="0" smtClean="0">
                <a:solidFill>
                  <a:schemeClr val="tx1"/>
                </a:solidFill>
              </a:rPr>
              <a:t>3)FPGA1</a:t>
            </a:r>
          </a:p>
          <a:p>
            <a:r>
              <a:rPr lang="en-US" altLang="zh-TW" sz="2400" dirty="0" smtClean="0">
                <a:solidFill>
                  <a:schemeClr val="tx1"/>
                </a:solidFill>
              </a:rPr>
              <a:t>4)MEZCN1</a:t>
            </a:r>
          </a:p>
          <a:p>
            <a:r>
              <a:rPr lang="en-US" altLang="zh-TW" sz="2400" dirty="0" smtClean="0">
                <a:solidFill>
                  <a:schemeClr val="tx1"/>
                </a:solidFill>
              </a:rPr>
              <a:t>5)</a:t>
            </a:r>
            <a:r>
              <a:rPr lang="en-US" altLang="zh-TW" sz="2400" dirty="0" err="1" smtClean="0">
                <a:solidFill>
                  <a:schemeClr val="tx1"/>
                </a:solidFill>
              </a:rPr>
              <a:t>PCIe</a:t>
            </a:r>
            <a:r>
              <a:rPr lang="en-US" altLang="zh-TW" sz="2400" dirty="0" smtClean="0">
                <a:solidFill>
                  <a:schemeClr val="tx1"/>
                </a:solidFill>
              </a:rPr>
              <a:t> </a:t>
            </a:r>
            <a:r>
              <a:rPr lang="en-US" altLang="zh-TW" sz="2400" dirty="0">
                <a:solidFill>
                  <a:schemeClr val="tx1"/>
                </a:solidFill>
              </a:rPr>
              <a:t>Slot </a:t>
            </a:r>
            <a:r>
              <a:rPr lang="en-US" altLang="zh-TW" sz="2400" dirty="0" smtClean="0">
                <a:solidFill>
                  <a:srgbClr val="FF0000"/>
                </a:solidFill>
              </a:rPr>
              <a:t>#(2-4)</a:t>
            </a:r>
            <a:r>
              <a:rPr lang="en-US" altLang="zh-TW" sz="2400" dirty="0" smtClean="0">
                <a:solidFill>
                  <a:schemeClr val="tx1"/>
                </a:solidFill>
              </a:rPr>
              <a:t>.R1.PCIEM1</a:t>
            </a:r>
          </a:p>
          <a:p>
            <a:r>
              <a:rPr lang="en-US" altLang="zh-TW" sz="2400" dirty="0" smtClean="0">
                <a:solidFill>
                  <a:schemeClr val="tx1"/>
                </a:solidFill>
              </a:rPr>
              <a:t>6)</a:t>
            </a:r>
            <a:r>
              <a:rPr lang="en-US" altLang="zh-TW" sz="2400" dirty="0" err="1" smtClean="0">
                <a:solidFill>
                  <a:schemeClr val="tx1"/>
                </a:solidFill>
              </a:rPr>
              <a:t>PCIe</a:t>
            </a:r>
            <a:r>
              <a:rPr lang="en-US" altLang="zh-TW" sz="2400" dirty="0" smtClean="0">
                <a:solidFill>
                  <a:schemeClr val="tx1"/>
                </a:solidFill>
              </a:rPr>
              <a:t> </a:t>
            </a:r>
            <a:r>
              <a:rPr lang="en-US" altLang="zh-TW" sz="2400" dirty="0">
                <a:solidFill>
                  <a:schemeClr val="tx1"/>
                </a:solidFill>
              </a:rPr>
              <a:t>Slot </a:t>
            </a:r>
            <a:r>
              <a:rPr lang="en-US" altLang="zh-TW" sz="2400" dirty="0" smtClean="0">
                <a:solidFill>
                  <a:srgbClr val="FF0000"/>
                </a:solidFill>
              </a:rPr>
              <a:t>#(2-4)</a:t>
            </a:r>
            <a:r>
              <a:rPr lang="en-US" altLang="zh-TW" sz="2400" dirty="0" smtClean="0">
                <a:solidFill>
                  <a:schemeClr val="tx1"/>
                </a:solidFill>
              </a:rPr>
              <a:t>.R1.PCIEM2</a:t>
            </a:r>
          </a:p>
          <a:p>
            <a:r>
              <a:rPr lang="en-US" altLang="zh-TW" sz="2400" dirty="0" smtClean="0">
                <a:solidFill>
                  <a:schemeClr val="tx1"/>
                </a:solidFill>
              </a:rPr>
              <a:t>7)SATA </a:t>
            </a:r>
            <a:r>
              <a:rPr lang="en-US" altLang="zh-TW" sz="2400" dirty="0" smtClean="0">
                <a:solidFill>
                  <a:srgbClr val="FF0000"/>
                </a:solidFill>
              </a:rPr>
              <a:t>0-5</a:t>
            </a:r>
          </a:p>
          <a:p>
            <a:r>
              <a:rPr lang="en-US" altLang="zh-TW" sz="2400" dirty="0" smtClean="0">
                <a:solidFill>
                  <a:schemeClr val="tx1"/>
                </a:solidFill>
              </a:rPr>
              <a:t>8)</a:t>
            </a:r>
            <a:r>
              <a:rPr lang="en-US" altLang="zh-TW" sz="2400" dirty="0" err="1" smtClean="0">
                <a:solidFill>
                  <a:schemeClr val="tx1"/>
                </a:solidFill>
              </a:rPr>
              <a:t>sSATA</a:t>
            </a:r>
            <a:r>
              <a:rPr lang="en-US" altLang="zh-TW" sz="2400" dirty="0" smtClean="0">
                <a:solidFill>
                  <a:schemeClr val="tx1"/>
                </a:solidFill>
              </a:rPr>
              <a:t> </a:t>
            </a:r>
            <a:r>
              <a:rPr lang="en-US" altLang="zh-TW" sz="2400" dirty="0" smtClean="0">
                <a:solidFill>
                  <a:srgbClr val="FF0000"/>
                </a:solidFill>
              </a:rPr>
              <a:t>0-3</a:t>
            </a:r>
          </a:p>
          <a:p>
            <a:r>
              <a:rPr lang="en-US" altLang="zh-TW" sz="2400" dirty="0" smtClean="0">
                <a:solidFill>
                  <a:schemeClr val="tx1"/>
                </a:solidFill>
              </a:rPr>
              <a:t>9)TPM1</a:t>
            </a:r>
          </a:p>
        </p:txBody>
      </p:sp>
    </p:spTree>
    <p:extLst>
      <p:ext uri="{BB962C8B-B14F-4D97-AF65-F5344CB8AC3E}">
        <p14:creationId xmlns:p14="http://schemas.microsoft.com/office/powerpoint/2010/main" val="3387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421086" y="2756263"/>
            <a:ext cx="1828800" cy="1015663"/>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6000" dirty="0" smtClean="0">
                <a:solidFill>
                  <a:schemeClr val="tx1"/>
                </a:solidFill>
              </a:rPr>
              <a:t>End</a:t>
            </a:r>
            <a:endParaRPr lang="zh-TW" altLang="en-US" sz="6000" dirty="0">
              <a:solidFill>
                <a:schemeClr val="tx1"/>
              </a:solidFill>
            </a:endParaRPr>
          </a:p>
        </p:txBody>
      </p:sp>
    </p:spTree>
    <p:extLst>
      <p:ext uri="{BB962C8B-B14F-4D97-AF65-F5344CB8AC3E}">
        <p14:creationId xmlns:p14="http://schemas.microsoft.com/office/powerpoint/2010/main" val="320351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a:xfrm>
            <a:off x="4336869" y="2048691"/>
            <a:ext cx="7759337" cy="1920240"/>
          </a:xfrm>
        </p:spPr>
        <p:txBody>
          <a:bodyPr anchor="ctr"/>
          <a:lstStyle/>
          <a:p>
            <a:r>
              <a:rPr lang="en-US" altLang="zh-TW" sz="4400" dirty="0" smtClean="0">
                <a:solidFill>
                  <a:srgbClr val="0070C0"/>
                </a:solidFill>
              </a:rPr>
              <a:t>MONICA TEST PROGRAM CREATE BOM DATA</a:t>
            </a:r>
            <a:endParaRPr lang="zh-TW" altLang="en-US" sz="4400" dirty="0">
              <a:solidFill>
                <a:srgbClr val="0070C0"/>
              </a:solidFill>
            </a:endParaRPr>
          </a:p>
        </p:txBody>
      </p:sp>
    </p:spTree>
    <p:extLst>
      <p:ext uri="{BB962C8B-B14F-4D97-AF65-F5344CB8AC3E}">
        <p14:creationId xmlns:p14="http://schemas.microsoft.com/office/powerpoint/2010/main" val="1372625019"/>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2"/>
          <p:cNvSpPr>
            <a:spLocks noGrp="1"/>
          </p:cNvSpPr>
          <p:nvPr>
            <p:ph type="body" sz="quarter" idx="15"/>
          </p:nvPr>
        </p:nvSpPr>
        <p:spPr>
          <a:xfrm>
            <a:off x="838200" y="365124"/>
            <a:ext cx="11049000" cy="1110979"/>
          </a:xfrm>
        </p:spPr>
        <p:txBody>
          <a:bodyPr/>
          <a:lstStyle/>
          <a:p>
            <a:r>
              <a:rPr lang="en-US" altLang="zh-TW" dirty="0" smtClean="0"/>
              <a:t>How to </a:t>
            </a:r>
            <a:r>
              <a:rPr lang="en-US" altLang="zh-TW" dirty="0" smtClean="0">
                <a:solidFill>
                  <a:srgbClr val="FF0000"/>
                </a:solidFill>
              </a:rPr>
              <a:t>create</a:t>
            </a:r>
            <a:r>
              <a:rPr lang="en-US" altLang="zh-TW" dirty="0" smtClean="0"/>
              <a:t> test BOM data for MONICA BOM base test program</a:t>
            </a:r>
            <a:endParaRPr lang="zh-TW" altLang="en-US" dirty="0"/>
          </a:p>
        </p:txBody>
      </p:sp>
      <p:sp>
        <p:nvSpPr>
          <p:cNvPr id="3" name="文字方塊 2"/>
          <p:cNvSpPr txBox="1"/>
          <p:nvPr/>
        </p:nvSpPr>
        <p:spPr>
          <a:xfrm>
            <a:off x="576942" y="1645922"/>
            <a:ext cx="5445035" cy="193899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What you need before checking</a:t>
            </a:r>
          </a:p>
          <a:p>
            <a:r>
              <a:rPr lang="en-US" altLang="zh-TW" sz="2400" dirty="0" smtClean="0">
                <a:solidFill>
                  <a:schemeClr val="tx1"/>
                </a:solidFill>
              </a:rPr>
              <a:t>1)SKU Document</a:t>
            </a:r>
          </a:p>
          <a:p>
            <a:r>
              <a:rPr lang="en-US" altLang="zh-TW" sz="2400" dirty="0" smtClean="0">
                <a:solidFill>
                  <a:schemeClr val="tx1"/>
                </a:solidFill>
              </a:rPr>
              <a:t>2)CRD Document</a:t>
            </a:r>
          </a:p>
          <a:p>
            <a:r>
              <a:rPr lang="en-US" altLang="zh-TW" sz="2400" dirty="0" smtClean="0">
                <a:solidFill>
                  <a:schemeClr val="tx1"/>
                </a:solidFill>
              </a:rPr>
              <a:t>3)Cross Table</a:t>
            </a:r>
          </a:p>
          <a:p>
            <a:r>
              <a:rPr lang="en-US" altLang="zh-TW" sz="2400" dirty="0" smtClean="0">
                <a:solidFill>
                  <a:schemeClr val="tx1"/>
                </a:solidFill>
              </a:rPr>
              <a:t>4)OA access to PDM</a:t>
            </a:r>
          </a:p>
        </p:txBody>
      </p:sp>
    </p:spTree>
    <p:extLst>
      <p:ext uri="{BB962C8B-B14F-4D97-AF65-F5344CB8AC3E}">
        <p14:creationId xmlns:p14="http://schemas.microsoft.com/office/powerpoint/2010/main" val="1255821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線單箭頭接點 36"/>
          <p:cNvCxnSpPr>
            <a:stCxn id="30" idx="0"/>
            <a:endCxn id="6" idx="3"/>
          </p:cNvCxnSpPr>
          <p:nvPr/>
        </p:nvCxnSpPr>
        <p:spPr>
          <a:xfrm flipH="1" flipV="1">
            <a:off x="7158447" y="1206250"/>
            <a:ext cx="555173" cy="3414904"/>
          </a:xfrm>
          <a:prstGeom prst="straightConnector1">
            <a:avLst/>
          </a:prstGeom>
          <a:ln w="57150">
            <a:solidFill>
              <a:srgbClr val="8ED30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230781" y="339444"/>
            <a:ext cx="5307875"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R&amp;R, Process of BOM data creation</a:t>
            </a:r>
          </a:p>
        </p:txBody>
      </p:sp>
      <p:sp>
        <p:nvSpPr>
          <p:cNvPr id="6" name="矩形 5"/>
          <p:cNvSpPr/>
          <p:nvPr/>
        </p:nvSpPr>
        <p:spPr>
          <a:xfrm>
            <a:off x="3317967" y="801301"/>
            <a:ext cx="3840480"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WYHQ</a:t>
            </a:r>
          </a:p>
          <a:p>
            <a:pPr algn="ctr"/>
            <a:r>
              <a:rPr lang="en-US" altLang="zh-TW" dirty="0" smtClean="0"/>
              <a:t>SQL DB</a:t>
            </a:r>
            <a:endParaRPr lang="zh-TW" altLang="en-US" dirty="0"/>
          </a:p>
        </p:txBody>
      </p:sp>
      <p:sp>
        <p:nvSpPr>
          <p:cNvPr id="14" name="矩形 13"/>
          <p:cNvSpPr/>
          <p:nvPr/>
        </p:nvSpPr>
        <p:spPr>
          <a:xfrm>
            <a:off x="652600" y="4756834"/>
            <a:ext cx="1933303"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Site TE</a:t>
            </a:r>
            <a:endParaRPr lang="zh-TW" altLang="en-US" dirty="0">
              <a:solidFill>
                <a:schemeClr val="tx1"/>
              </a:solidFill>
            </a:endParaRPr>
          </a:p>
        </p:txBody>
      </p:sp>
      <p:sp>
        <p:nvSpPr>
          <p:cNvPr id="15" name="矩形 14"/>
          <p:cNvSpPr/>
          <p:nvPr/>
        </p:nvSpPr>
        <p:spPr>
          <a:xfrm>
            <a:off x="661852" y="2623347"/>
            <a:ext cx="1933303"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TE </a:t>
            </a:r>
            <a:r>
              <a:rPr lang="en-US" altLang="zh-TW" dirty="0" smtClean="0">
                <a:solidFill>
                  <a:schemeClr val="tx1"/>
                </a:solidFill>
              </a:rPr>
              <a:t>Supervisor</a:t>
            </a:r>
            <a:endParaRPr lang="zh-TW" altLang="en-US" dirty="0">
              <a:solidFill>
                <a:schemeClr val="tx1"/>
              </a:solidFill>
            </a:endParaRPr>
          </a:p>
        </p:txBody>
      </p:sp>
      <p:sp>
        <p:nvSpPr>
          <p:cNvPr id="16" name="矩形 15"/>
          <p:cNvSpPr/>
          <p:nvPr/>
        </p:nvSpPr>
        <p:spPr>
          <a:xfrm>
            <a:off x="4271556" y="2623347"/>
            <a:ext cx="1933303"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WYHQ</a:t>
            </a:r>
            <a:r>
              <a:rPr lang="zh-TW" altLang="en-US" dirty="0" smtClean="0">
                <a:solidFill>
                  <a:schemeClr val="tx1"/>
                </a:solidFill>
              </a:rPr>
              <a:t> </a:t>
            </a:r>
            <a:r>
              <a:rPr lang="en-US" altLang="zh-TW" dirty="0" smtClean="0">
                <a:solidFill>
                  <a:schemeClr val="tx1"/>
                </a:solidFill>
              </a:rPr>
              <a:t>MTE</a:t>
            </a:r>
          </a:p>
        </p:txBody>
      </p:sp>
      <p:sp>
        <p:nvSpPr>
          <p:cNvPr id="17" name="矩形 16"/>
          <p:cNvSpPr/>
          <p:nvPr/>
        </p:nvSpPr>
        <p:spPr>
          <a:xfrm>
            <a:off x="8183882" y="2612797"/>
            <a:ext cx="1933303"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WYHQ</a:t>
            </a:r>
            <a:r>
              <a:rPr lang="zh-TW" altLang="en-US" dirty="0" smtClean="0">
                <a:solidFill>
                  <a:schemeClr val="tx1"/>
                </a:solidFill>
              </a:rPr>
              <a:t> </a:t>
            </a:r>
            <a:r>
              <a:rPr lang="en-US" altLang="zh-TW" dirty="0" smtClean="0">
                <a:solidFill>
                  <a:schemeClr val="tx1"/>
                </a:solidFill>
              </a:rPr>
              <a:t>STE</a:t>
            </a:r>
          </a:p>
        </p:txBody>
      </p:sp>
      <p:cxnSp>
        <p:nvCxnSpPr>
          <p:cNvPr id="8" name="直線單箭頭接點 7"/>
          <p:cNvCxnSpPr>
            <a:stCxn id="17" idx="0"/>
            <a:endCxn id="6" idx="3"/>
          </p:cNvCxnSpPr>
          <p:nvPr/>
        </p:nvCxnSpPr>
        <p:spPr>
          <a:xfrm flipH="1" flipV="1">
            <a:off x="7158447" y="1206250"/>
            <a:ext cx="1992087" cy="140654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15" idx="0"/>
            <a:endCxn id="6" idx="1"/>
          </p:cNvCxnSpPr>
          <p:nvPr/>
        </p:nvCxnSpPr>
        <p:spPr>
          <a:xfrm flipV="1">
            <a:off x="1628504" y="1206250"/>
            <a:ext cx="1689463" cy="14170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4" idx="0"/>
            <a:endCxn id="15" idx="2"/>
          </p:cNvCxnSpPr>
          <p:nvPr/>
        </p:nvCxnSpPr>
        <p:spPr>
          <a:xfrm flipV="1">
            <a:off x="1619252" y="3433244"/>
            <a:ext cx="9252" cy="132359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p:cNvSpPr txBox="1"/>
          <p:nvPr/>
        </p:nvSpPr>
        <p:spPr>
          <a:xfrm>
            <a:off x="1038496" y="3858260"/>
            <a:ext cx="1180013"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Submit</a:t>
            </a:r>
          </a:p>
          <a:p>
            <a:pPr algn="ctr"/>
            <a:r>
              <a:rPr lang="en-US" altLang="zh-TW" sz="1200" i="1" dirty="0" smtClean="0">
                <a:solidFill>
                  <a:srgbClr val="FF0000"/>
                </a:solidFill>
              </a:rPr>
              <a:t>New/Change</a:t>
            </a:r>
            <a:endParaRPr lang="zh-TW" altLang="en-US" sz="1200" i="1" dirty="0">
              <a:solidFill>
                <a:srgbClr val="FF0000"/>
              </a:solidFill>
            </a:endParaRPr>
          </a:p>
        </p:txBody>
      </p:sp>
      <p:sp>
        <p:nvSpPr>
          <p:cNvPr id="27" name="文字方塊 26"/>
          <p:cNvSpPr txBox="1"/>
          <p:nvPr/>
        </p:nvSpPr>
        <p:spPr>
          <a:xfrm>
            <a:off x="1223967" y="1886439"/>
            <a:ext cx="1802673"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Change Reviewing </a:t>
            </a:r>
            <a:r>
              <a:rPr lang="en-US" altLang="zh-TW" sz="1200" i="1" dirty="0" smtClean="0">
                <a:solidFill>
                  <a:srgbClr val="FF0000"/>
                </a:solidFill>
              </a:rPr>
              <a:t>Reject/Approve</a:t>
            </a:r>
            <a:endParaRPr lang="zh-TW" altLang="en-US" sz="1200" i="1" dirty="0">
              <a:solidFill>
                <a:srgbClr val="FF0000"/>
              </a:solidFill>
            </a:endParaRPr>
          </a:p>
        </p:txBody>
      </p:sp>
      <p:cxnSp>
        <p:nvCxnSpPr>
          <p:cNvPr id="28" name="直線單箭頭接點 27"/>
          <p:cNvCxnSpPr>
            <a:stCxn id="16" idx="0"/>
            <a:endCxn id="6" idx="2"/>
          </p:cNvCxnSpPr>
          <p:nvPr/>
        </p:nvCxnSpPr>
        <p:spPr>
          <a:xfrm flipH="1" flipV="1">
            <a:off x="5238207" y="1611198"/>
            <a:ext cx="1" cy="101214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4336597" y="1887699"/>
            <a:ext cx="1803220"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Review Data</a:t>
            </a:r>
          </a:p>
          <a:p>
            <a:pPr algn="ctr"/>
            <a:r>
              <a:rPr lang="en-US" altLang="zh-TW" sz="1200" i="1" dirty="0" smtClean="0">
                <a:solidFill>
                  <a:srgbClr val="FF0000"/>
                </a:solidFill>
              </a:rPr>
              <a:t>Change</a:t>
            </a:r>
          </a:p>
        </p:txBody>
      </p:sp>
      <p:cxnSp>
        <p:nvCxnSpPr>
          <p:cNvPr id="32" name="直線單箭頭接點 31"/>
          <p:cNvCxnSpPr>
            <a:stCxn id="16" idx="2"/>
            <a:endCxn id="14" idx="0"/>
          </p:cNvCxnSpPr>
          <p:nvPr/>
        </p:nvCxnSpPr>
        <p:spPr>
          <a:xfrm flipH="1">
            <a:off x="1619252" y="3433244"/>
            <a:ext cx="3618956" cy="132359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文字方塊 34"/>
          <p:cNvSpPr txBox="1"/>
          <p:nvPr/>
        </p:nvSpPr>
        <p:spPr>
          <a:xfrm>
            <a:off x="3461658" y="3750689"/>
            <a:ext cx="1619795" cy="276999"/>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Change Request</a:t>
            </a:r>
          </a:p>
        </p:txBody>
      </p:sp>
      <p:cxnSp>
        <p:nvCxnSpPr>
          <p:cNvPr id="36" name="直線單箭頭接點 35"/>
          <p:cNvCxnSpPr>
            <a:stCxn id="14" idx="3"/>
            <a:endCxn id="17" idx="2"/>
          </p:cNvCxnSpPr>
          <p:nvPr/>
        </p:nvCxnSpPr>
        <p:spPr>
          <a:xfrm flipV="1">
            <a:off x="2585903" y="3422694"/>
            <a:ext cx="6564631" cy="17390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文字方塊 39"/>
          <p:cNvSpPr txBox="1"/>
          <p:nvPr/>
        </p:nvSpPr>
        <p:spPr>
          <a:xfrm>
            <a:off x="5447213" y="3971780"/>
            <a:ext cx="1619795"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Device </a:t>
            </a:r>
            <a:r>
              <a:rPr lang="en-US" altLang="zh-TW" sz="1200" i="1" dirty="0" err="1" smtClean="0">
                <a:solidFill>
                  <a:schemeClr val="tx1"/>
                </a:solidFill>
              </a:rPr>
              <a:t>cfg</a:t>
            </a:r>
            <a:endParaRPr lang="en-US" altLang="zh-TW" sz="1200" i="1" dirty="0" smtClean="0">
              <a:solidFill>
                <a:schemeClr val="tx1"/>
              </a:solidFill>
            </a:endParaRPr>
          </a:p>
          <a:p>
            <a:pPr algn="ctr"/>
            <a:r>
              <a:rPr lang="en-US" altLang="zh-TW" sz="1200" i="1" dirty="0" smtClean="0">
                <a:solidFill>
                  <a:srgbClr val="FF0000"/>
                </a:solidFill>
              </a:rPr>
              <a:t>Modify/Add Request</a:t>
            </a:r>
          </a:p>
        </p:txBody>
      </p:sp>
      <p:sp>
        <p:nvSpPr>
          <p:cNvPr id="41" name="文字方塊 40"/>
          <p:cNvSpPr txBox="1"/>
          <p:nvPr/>
        </p:nvSpPr>
        <p:spPr>
          <a:xfrm>
            <a:off x="7726681" y="1886439"/>
            <a:ext cx="1423852"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Device </a:t>
            </a:r>
            <a:r>
              <a:rPr lang="en-US" altLang="zh-TW" sz="1200" i="1" dirty="0" err="1" smtClean="0">
                <a:solidFill>
                  <a:schemeClr val="tx1"/>
                </a:solidFill>
              </a:rPr>
              <a:t>Cfg</a:t>
            </a:r>
            <a:endParaRPr lang="en-US" altLang="zh-TW" sz="1200" i="1" dirty="0" smtClean="0">
              <a:solidFill>
                <a:schemeClr val="tx1"/>
              </a:solidFill>
            </a:endParaRPr>
          </a:p>
          <a:p>
            <a:pPr algn="ctr"/>
            <a:r>
              <a:rPr lang="en-US" altLang="zh-TW" sz="1200" i="1" dirty="0" smtClean="0">
                <a:solidFill>
                  <a:srgbClr val="FF0000"/>
                </a:solidFill>
              </a:rPr>
              <a:t>Modify/New Add</a:t>
            </a:r>
            <a:endParaRPr lang="en-US" altLang="zh-TW" sz="1200" i="1" dirty="0">
              <a:solidFill>
                <a:srgbClr val="FF0000"/>
              </a:solidFill>
            </a:endParaRPr>
          </a:p>
        </p:txBody>
      </p:sp>
      <p:cxnSp>
        <p:nvCxnSpPr>
          <p:cNvPr id="42" name="直線單箭頭接點 41"/>
          <p:cNvCxnSpPr>
            <a:stCxn id="16" idx="1"/>
            <a:endCxn id="15" idx="3"/>
          </p:cNvCxnSpPr>
          <p:nvPr/>
        </p:nvCxnSpPr>
        <p:spPr>
          <a:xfrm flipH="1">
            <a:off x="2595155" y="3028296"/>
            <a:ext cx="1676401" cy="0"/>
          </a:xfrm>
          <a:prstGeom prst="straightConnector1">
            <a:avLst/>
          </a:prstGeom>
          <a:ln w="57150">
            <a:solidFill>
              <a:srgbClr val="00B05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16" idx="3"/>
            <a:endCxn id="17" idx="1"/>
          </p:cNvCxnSpPr>
          <p:nvPr/>
        </p:nvCxnSpPr>
        <p:spPr>
          <a:xfrm flipV="1">
            <a:off x="6204859" y="3017746"/>
            <a:ext cx="1979023" cy="105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p:cNvSpPr txBox="1"/>
          <p:nvPr/>
        </p:nvSpPr>
        <p:spPr>
          <a:xfrm>
            <a:off x="6326779" y="2730195"/>
            <a:ext cx="1619795" cy="276999"/>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Change Request</a:t>
            </a:r>
          </a:p>
        </p:txBody>
      </p:sp>
      <p:sp>
        <p:nvSpPr>
          <p:cNvPr id="68" name="矩形 67"/>
          <p:cNvSpPr/>
          <p:nvPr/>
        </p:nvSpPr>
        <p:spPr>
          <a:xfrm>
            <a:off x="4323806" y="5700319"/>
            <a:ext cx="1933303"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Site TT</a:t>
            </a:r>
            <a:endParaRPr lang="zh-TW" altLang="en-US" dirty="0">
              <a:solidFill>
                <a:schemeClr val="tx1"/>
              </a:solidFill>
            </a:endParaRPr>
          </a:p>
        </p:txBody>
      </p:sp>
      <p:cxnSp>
        <p:nvCxnSpPr>
          <p:cNvPr id="69" name="直線單箭頭接點 68"/>
          <p:cNvCxnSpPr>
            <a:stCxn id="68" idx="1"/>
            <a:endCxn id="14" idx="2"/>
          </p:cNvCxnSpPr>
          <p:nvPr/>
        </p:nvCxnSpPr>
        <p:spPr>
          <a:xfrm flipH="1" flipV="1">
            <a:off x="1619252" y="5566731"/>
            <a:ext cx="2704554" cy="53853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文字方塊 75"/>
          <p:cNvSpPr txBox="1"/>
          <p:nvPr/>
        </p:nvSpPr>
        <p:spPr>
          <a:xfrm>
            <a:off x="2390503" y="5762141"/>
            <a:ext cx="1619795" cy="276999"/>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Issue/Problem found</a:t>
            </a:r>
          </a:p>
        </p:txBody>
      </p:sp>
      <p:sp>
        <p:nvSpPr>
          <p:cNvPr id="29" name="文字方塊 28"/>
          <p:cNvSpPr txBox="1"/>
          <p:nvPr/>
        </p:nvSpPr>
        <p:spPr>
          <a:xfrm>
            <a:off x="3036027" y="2740746"/>
            <a:ext cx="722811" cy="276999"/>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Proxy</a:t>
            </a:r>
          </a:p>
        </p:txBody>
      </p:sp>
      <p:sp>
        <p:nvSpPr>
          <p:cNvPr id="30" name="矩形 29"/>
          <p:cNvSpPr/>
          <p:nvPr/>
        </p:nvSpPr>
        <p:spPr>
          <a:xfrm>
            <a:off x="6753500" y="4621154"/>
            <a:ext cx="1920240" cy="809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Site</a:t>
            </a:r>
          </a:p>
          <a:p>
            <a:pPr algn="ctr"/>
            <a:r>
              <a:rPr lang="en-US" altLang="zh-TW" dirty="0" smtClean="0">
                <a:solidFill>
                  <a:schemeClr val="tx1"/>
                </a:solidFill>
              </a:rPr>
              <a:t>SQL DB</a:t>
            </a:r>
            <a:endParaRPr lang="zh-TW" altLang="en-US" dirty="0">
              <a:solidFill>
                <a:schemeClr val="tx1"/>
              </a:solidFill>
            </a:endParaRPr>
          </a:p>
        </p:txBody>
      </p:sp>
      <p:cxnSp>
        <p:nvCxnSpPr>
          <p:cNvPr id="33" name="直線單箭頭接點 32"/>
          <p:cNvCxnSpPr>
            <a:stCxn id="68" idx="3"/>
            <a:endCxn id="30" idx="2"/>
          </p:cNvCxnSpPr>
          <p:nvPr/>
        </p:nvCxnSpPr>
        <p:spPr>
          <a:xfrm flipV="1">
            <a:off x="6257109" y="5431051"/>
            <a:ext cx="1456511" cy="6742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a:stCxn id="14" idx="3"/>
            <a:endCxn id="30" idx="1"/>
          </p:cNvCxnSpPr>
          <p:nvPr/>
        </p:nvCxnSpPr>
        <p:spPr>
          <a:xfrm flipV="1">
            <a:off x="2585903" y="5026103"/>
            <a:ext cx="4167597" cy="13568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p:cNvSpPr txBox="1"/>
          <p:nvPr/>
        </p:nvSpPr>
        <p:spPr>
          <a:xfrm>
            <a:off x="4833260" y="4980451"/>
            <a:ext cx="705396" cy="281911"/>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Check</a:t>
            </a:r>
          </a:p>
        </p:txBody>
      </p:sp>
      <p:sp>
        <p:nvSpPr>
          <p:cNvPr id="44" name="文字方塊 43"/>
          <p:cNvSpPr txBox="1"/>
          <p:nvPr/>
        </p:nvSpPr>
        <p:spPr>
          <a:xfrm>
            <a:off x="6619605" y="5613485"/>
            <a:ext cx="705396" cy="281911"/>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Check</a:t>
            </a:r>
          </a:p>
        </p:txBody>
      </p:sp>
      <p:sp>
        <p:nvSpPr>
          <p:cNvPr id="38" name="文字方塊 37"/>
          <p:cNvSpPr txBox="1"/>
          <p:nvPr/>
        </p:nvSpPr>
        <p:spPr>
          <a:xfrm>
            <a:off x="6867120" y="1894340"/>
            <a:ext cx="790306" cy="461665"/>
          </a:xfrm>
          <a:prstGeom prst="rect">
            <a:avLst/>
          </a:prstGeom>
          <a:solidFill>
            <a:srgbClr val="FFFF00"/>
          </a:solidFill>
          <a:ln>
            <a:solidFill>
              <a:srgbClr val="010C10"/>
            </a:solid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altLang="zh-TW" sz="1200" i="1" dirty="0" smtClean="0">
                <a:solidFill>
                  <a:schemeClr val="tx1"/>
                </a:solidFill>
              </a:rPr>
              <a:t>Re-Sync</a:t>
            </a:r>
          </a:p>
          <a:p>
            <a:pPr algn="ctr"/>
            <a:r>
              <a:rPr lang="en-US" altLang="zh-TW" sz="1200" i="1" dirty="0" smtClean="0">
                <a:solidFill>
                  <a:schemeClr val="tx1"/>
                </a:solidFill>
              </a:rPr>
              <a:t>5min</a:t>
            </a:r>
            <a:endParaRPr lang="en-US" altLang="zh-TW" sz="1200" i="1" dirty="0" smtClean="0">
              <a:solidFill>
                <a:srgbClr val="FF0000"/>
              </a:solidFill>
            </a:endParaRPr>
          </a:p>
        </p:txBody>
      </p:sp>
    </p:spTree>
    <p:extLst>
      <p:ext uri="{BB962C8B-B14F-4D97-AF65-F5344CB8AC3E}">
        <p14:creationId xmlns:p14="http://schemas.microsoft.com/office/powerpoint/2010/main" val="202837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431077"/>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Flow of BOM data creation</a:t>
            </a:r>
          </a:p>
        </p:txBody>
      </p:sp>
      <p:pic>
        <p:nvPicPr>
          <p:cNvPr id="2" name="圖片 1"/>
          <p:cNvPicPr>
            <a:picLocks noChangeAspect="1"/>
          </p:cNvPicPr>
          <p:nvPr/>
        </p:nvPicPr>
        <p:blipFill>
          <a:blip r:embed="rId2"/>
          <a:stretch>
            <a:fillRect/>
          </a:stretch>
        </p:blipFill>
        <p:spPr>
          <a:xfrm>
            <a:off x="561704" y="1943426"/>
            <a:ext cx="7305224" cy="1220017"/>
          </a:xfrm>
          <a:prstGeom prst="rect">
            <a:avLst/>
          </a:prstGeom>
        </p:spPr>
      </p:pic>
      <p:sp>
        <p:nvSpPr>
          <p:cNvPr id="5" name="矩形 4"/>
          <p:cNvSpPr/>
          <p:nvPr/>
        </p:nvSpPr>
        <p:spPr>
          <a:xfrm>
            <a:off x="561704" y="906160"/>
            <a:ext cx="1841862" cy="6270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Create/Check</a:t>
            </a:r>
          </a:p>
          <a:p>
            <a:pPr algn="ctr"/>
            <a:r>
              <a:rPr lang="en-US" altLang="zh-TW" dirty="0" smtClean="0">
                <a:solidFill>
                  <a:schemeClr val="bg1"/>
                </a:solidFill>
              </a:rPr>
              <a:t>QVL</a:t>
            </a:r>
            <a:endParaRPr lang="zh-TW" altLang="en-US" dirty="0">
              <a:solidFill>
                <a:schemeClr val="bg1"/>
              </a:solidFill>
            </a:endParaRPr>
          </a:p>
        </p:txBody>
      </p:sp>
      <p:sp>
        <p:nvSpPr>
          <p:cNvPr id="9" name="矩形 8"/>
          <p:cNvSpPr/>
          <p:nvPr/>
        </p:nvSpPr>
        <p:spPr>
          <a:xfrm>
            <a:off x="3132139" y="906159"/>
            <a:ext cx="1841862" cy="6270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Create/Check</a:t>
            </a:r>
          </a:p>
          <a:p>
            <a:pPr algn="ctr"/>
            <a:r>
              <a:rPr lang="en-US" altLang="zh-TW" dirty="0" smtClean="0">
                <a:solidFill>
                  <a:schemeClr val="bg1"/>
                </a:solidFill>
              </a:rPr>
              <a:t>Test BOM</a:t>
            </a:r>
            <a:endParaRPr lang="zh-TW" altLang="en-US" dirty="0">
              <a:solidFill>
                <a:schemeClr val="bg1"/>
              </a:solidFill>
            </a:endParaRPr>
          </a:p>
        </p:txBody>
      </p:sp>
      <p:sp>
        <p:nvSpPr>
          <p:cNvPr id="10" name="矩形 9"/>
          <p:cNvSpPr/>
          <p:nvPr/>
        </p:nvSpPr>
        <p:spPr>
          <a:xfrm>
            <a:off x="5736775" y="892742"/>
            <a:ext cx="1841862" cy="6270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Create/Check</a:t>
            </a:r>
          </a:p>
          <a:p>
            <a:pPr algn="ctr"/>
            <a:r>
              <a:rPr lang="en-US" altLang="zh-TW" dirty="0" smtClean="0">
                <a:solidFill>
                  <a:schemeClr val="bg1"/>
                </a:solidFill>
              </a:rPr>
              <a:t>Device </a:t>
            </a:r>
            <a:r>
              <a:rPr lang="en-US" altLang="zh-TW" dirty="0" err="1" smtClean="0">
                <a:solidFill>
                  <a:schemeClr val="bg1"/>
                </a:solidFill>
              </a:rPr>
              <a:t>Cfg</a:t>
            </a:r>
            <a:endParaRPr lang="zh-TW" altLang="en-US" dirty="0">
              <a:solidFill>
                <a:schemeClr val="bg1"/>
              </a:solidFill>
            </a:endParaRPr>
          </a:p>
        </p:txBody>
      </p:sp>
      <p:sp>
        <p:nvSpPr>
          <p:cNvPr id="11" name="向右箭號 10"/>
          <p:cNvSpPr/>
          <p:nvPr/>
        </p:nvSpPr>
        <p:spPr>
          <a:xfrm>
            <a:off x="2410097" y="892742"/>
            <a:ext cx="744583" cy="627017"/>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向右箭號 11"/>
          <p:cNvSpPr/>
          <p:nvPr/>
        </p:nvSpPr>
        <p:spPr>
          <a:xfrm>
            <a:off x="4974001" y="906158"/>
            <a:ext cx="744583" cy="627017"/>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向右箭號 12"/>
          <p:cNvSpPr/>
          <p:nvPr/>
        </p:nvSpPr>
        <p:spPr>
          <a:xfrm>
            <a:off x="1258526" y="2273420"/>
            <a:ext cx="3148148" cy="30115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p:cNvSpPr txBox="1"/>
          <p:nvPr/>
        </p:nvSpPr>
        <p:spPr>
          <a:xfrm>
            <a:off x="561705" y="3600528"/>
            <a:ext cx="10228216" cy="203132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i="1" dirty="0" smtClean="0">
                <a:solidFill>
                  <a:srgbClr val="FF0000"/>
                </a:solidFill>
              </a:rPr>
              <a:t>To create BOM data,</a:t>
            </a:r>
          </a:p>
          <a:p>
            <a:r>
              <a:rPr lang="en-US" altLang="zh-TW" dirty="0" smtClean="0">
                <a:solidFill>
                  <a:schemeClr val="tx1"/>
                </a:solidFill>
              </a:rPr>
              <a:t>1)QVL data is the first step to check/add new PN for the QVL of location.</a:t>
            </a:r>
          </a:p>
          <a:p>
            <a:r>
              <a:rPr lang="en-US" altLang="zh-TW" dirty="0" smtClean="0">
                <a:solidFill>
                  <a:schemeClr val="tx1"/>
                </a:solidFill>
              </a:rPr>
              <a:t>Refer the SKU and cross table, then check if the device is allowed to be installed on the location.</a:t>
            </a:r>
          </a:p>
          <a:p>
            <a:endParaRPr lang="en-US" altLang="zh-TW" dirty="0">
              <a:solidFill>
                <a:schemeClr val="tx1"/>
              </a:solidFill>
            </a:endParaRPr>
          </a:p>
          <a:p>
            <a:r>
              <a:rPr lang="en-US" altLang="zh-TW" dirty="0" smtClean="0">
                <a:solidFill>
                  <a:schemeClr val="tx1"/>
                </a:solidFill>
              </a:rPr>
              <a:t>2)After QVL checking, add new test BOM data for L10 or L11 based on SKU and CRD.</a:t>
            </a:r>
          </a:p>
          <a:p>
            <a:endParaRPr lang="en-US" altLang="zh-TW" dirty="0">
              <a:solidFill>
                <a:schemeClr val="tx1"/>
              </a:solidFill>
            </a:endParaRPr>
          </a:p>
          <a:p>
            <a:r>
              <a:rPr lang="en-US" altLang="zh-TW" dirty="0" smtClean="0">
                <a:solidFill>
                  <a:schemeClr val="tx1"/>
                </a:solidFill>
              </a:rPr>
              <a:t>3)Then the final step is to add new device configuration if necessary.</a:t>
            </a:r>
            <a:endParaRPr lang="en-US" altLang="zh-TW" dirty="0">
              <a:solidFill>
                <a:schemeClr val="tx1"/>
              </a:solidFill>
            </a:endParaRPr>
          </a:p>
        </p:txBody>
      </p:sp>
    </p:spTree>
    <p:extLst>
      <p:ext uri="{BB962C8B-B14F-4D97-AF65-F5344CB8AC3E}">
        <p14:creationId xmlns:p14="http://schemas.microsoft.com/office/powerpoint/2010/main" val="219497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字方塊 13"/>
          <p:cNvSpPr txBox="1"/>
          <p:nvPr/>
        </p:nvSpPr>
        <p:spPr>
          <a:xfrm>
            <a:off x="1944053" y="826781"/>
            <a:ext cx="8671561" cy="830997"/>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1)Execute “</a:t>
            </a:r>
            <a:r>
              <a:rPr lang="en-US" altLang="zh-TW" sz="2400" dirty="0" err="1" smtClean="0">
                <a:solidFill>
                  <a:schemeClr val="tx1"/>
                </a:solidFill>
              </a:rPr>
              <a:t>MonicaTPGenerator</a:t>
            </a:r>
            <a:r>
              <a:rPr lang="en-US" altLang="zh-TW" sz="2400" dirty="0" smtClean="0">
                <a:solidFill>
                  <a:schemeClr val="tx1"/>
                </a:solidFill>
              </a:rPr>
              <a:t>” on your OA computer, </a:t>
            </a:r>
          </a:p>
          <a:p>
            <a:r>
              <a:rPr lang="en-US" altLang="zh-TW" sz="2400" dirty="0" smtClean="0">
                <a:solidFill>
                  <a:schemeClr val="tx1"/>
                </a:solidFill>
              </a:rPr>
              <a:t>you must in OA environment.</a:t>
            </a:r>
          </a:p>
        </p:txBody>
      </p:sp>
      <p:pic>
        <p:nvPicPr>
          <p:cNvPr id="15" name="圖片 14"/>
          <p:cNvPicPr>
            <a:picLocks noChangeAspect="1"/>
          </p:cNvPicPr>
          <p:nvPr/>
        </p:nvPicPr>
        <p:blipFill>
          <a:blip r:embed="rId2"/>
          <a:stretch>
            <a:fillRect/>
          </a:stretch>
        </p:blipFill>
        <p:spPr>
          <a:xfrm>
            <a:off x="268877" y="798191"/>
            <a:ext cx="1675176" cy="1765239"/>
          </a:xfrm>
          <a:prstGeom prst="rect">
            <a:avLst/>
          </a:prstGeom>
        </p:spPr>
      </p:pic>
      <p:sp>
        <p:nvSpPr>
          <p:cNvPr id="16" name="文字方塊 15"/>
          <p:cNvSpPr txBox="1"/>
          <p:nvPr/>
        </p:nvSpPr>
        <p:spPr>
          <a:xfrm>
            <a:off x="3000580" y="3505258"/>
            <a:ext cx="6063344"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2)Set Target SQL Server to “WYHQ”</a:t>
            </a:r>
          </a:p>
        </p:txBody>
      </p:sp>
      <p:pic>
        <p:nvPicPr>
          <p:cNvPr id="2" name="圖片 1"/>
          <p:cNvPicPr>
            <a:picLocks noChangeAspect="1"/>
          </p:cNvPicPr>
          <p:nvPr/>
        </p:nvPicPr>
        <p:blipFill>
          <a:blip r:embed="rId3"/>
          <a:stretch>
            <a:fillRect/>
          </a:stretch>
        </p:blipFill>
        <p:spPr>
          <a:xfrm>
            <a:off x="212748" y="3505258"/>
            <a:ext cx="2787832" cy="2630525"/>
          </a:xfrm>
          <a:prstGeom prst="rect">
            <a:avLst/>
          </a:prstGeom>
        </p:spPr>
      </p:pic>
    </p:spTree>
    <p:extLst>
      <p:ext uri="{BB962C8B-B14F-4D97-AF65-F5344CB8AC3E}">
        <p14:creationId xmlns:p14="http://schemas.microsoft.com/office/powerpoint/2010/main" val="56637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Model Reference</a:t>
            </a:r>
          </a:p>
        </p:txBody>
      </p:sp>
      <p:graphicFrame>
        <p:nvGraphicFramePr>
          <p:cNvPr id="2" name="表格 1"/>
          <p:cNvGraphicFramePr>
            <a:graphicFrameLocks noGrp="1"/>
          </p:cNvGraphicFramePr>
          <p:nvPr>
            <p:extLst>
              <p:ext uri="{D42A27DB-BD31-4B8C-83A1-F6EECF244321}">
                <p14:modId xmlns:p14="http://schemas.microsoft.com/office/powerpoint/2010/main" val="99139846"/>
              </p:ext>
            </p:extLst>
          </p:nvPr>
        </p:nvGraphicFramePr>
        <p:xfrm>
          <a:off x="729523" y="1100274"/>
          <a:ext cx="8963116" cy="4686576"/>
        </p:xfrm>
        <a:graphic>
          <a:graphicData uri="http://schemas.openxmlformats.org/drawingml/2006/table">
            <a:tbl>
              <a:tblPr>
                <a:tableStyleId>{5C22544A-7EE6-4342-B048-85BDC9FD1C3A}</a:tableStyleId>
              </a:tblPr>
              <a:tblGrid>
                <a:gridCol w="3243377">
                  <a:extLst>
                    <a:ext uri="{9D8B030D-6E8A-4147-A177-3AD203B41FA5}">
                      <a16:colId xmlns:a16="http://schemas.microsoft.com/office/drawing/2014/main" val="1584326544"/>
                    </a:ext>
                  </a:extLst>
                </a:gridCol>
                <a:gridCol w="5719739">
                  <a:extLst>
                    <a:ext uri="{9D8B030D-6E8A-4147-A177-3AD203B41FA5}">
                      <a16:colId xmlns:a16="http://schemas.microsoft.com/office/drawing/2014/main" val="1959561278"/>
                    </a:ext>
                  </a:extLst>
                </a:gridCol>
              </a:tblGrid>
              <a:tr h="517990">
                <a:tc>
                  <a:txBody>
                    <a:bodyPr/>
                    <a:lstStyle/>
                    <a:p>
                      <a:pPr algn="l" fontAlgn="ctr"/>
                      <a:r>
                        <a:rPr lang="en-US" sz="2800" u="none" strike="noStrike">
                          <a:effectLst/>
                        </a:rPr>
                        <a:t>C1042_L10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dirty="0">
                          <a:effectLst/>
                        </a:rPr>
                        <a:t>Wiwynn Mt. Stuart L10</a:t>
                      </a:r>
                      <a:endParaRPr lang="en-US" sz="28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858770572"/>
                  </a:ext>
                </a:extLst>
              </a:tr>
              <a:tr h="517990">
                <a:tc>
                  <a:txBody>
                    <a:bodyPr/>
                    <a:lstStyle/>
                    <a:p>
                      <a:pPr algn="l" fontAlgn="ctr"/>
                      <a:r>
                        <a:rPr lang="en-US" sz="2800" u="none" strike="noStrike">
                          <a:effectLst/>
                        </a:rPr>
                        <a:t>C1042_L11</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dirty="0">
                          <a:effectLst/>
                        </a:rPr>
                        <a:t>Wiwynn Mt. Stuart </a:t>
                      </a:r>
                      <a:r>
                        <a:rPr lang="en-US" sz="2800" u="none" strike="noStrike" dirty="0" smtClean="0">
                          <a:effectLst/>
                        </a:rPr>
                        <a:t>L11 </a:t>
                      </a:r>
                      <a:r>
                        <a:rPr lang="en-US" sz="2800" u="none" strike="noStrike" dirty="0" err="1" smtClean="0">
                          <a:effectLst/>
                        </a:rPr>
                        <a:t>PoT</a:t>
                      </a:r>
                      <a:endParaRPr lang="en-US" sz="28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1865237100"/>
                  </a:ext>
                </a:extLst>
              </a:tr>
              <a:tr h="517990">
                <a:tc>
                  <a:txBody>
                    <a:bodyPr/>
                    <a:lstStyle/>
                    <a:p>
                      <a:pPr algn="l" fontAlgn="ctr"/>
                      <a:r>
                        <a:rPr lang="en-US" sz="2800" u="none" strike="noStrike">
                          <a:effectLst/>
                        </a:rPr>
                        <a:t>C2012_L10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dirty="0">
                          <a:effectLst/>
                        </a:rPr>
                        <a:t>Wiwynn C2010 L10</a:t>
                      </a:r>
                      <a:endParaRPr lang="en-US" sz="28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860330231"/>
                  </a:ext>
                </a:extLst>
              </a:tr>
              <a:tr h="517990">
                <a:tc>
                  <a:txBody>
                    <a:bodyPr/>
                    <a:lstStyle/>
                    <a:p>
                      <a:pPr algn="l" fontAlgn="ctr"/>
                      <a:r>
                        <a:rPr lang="en-US" sz="2800" u="none" strike="noStrike">
                          <a:effectLst/>
                        </a:rPr>
                        <a:t>C2012_L11</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dirty="0">
                          <a:effectLst/>
                        </a:rPr>
                        <a:t>Wiwynn C2010 </a:t>
                      </a:r>
                      <a:r>
                        <a:rPr lang="en-US" sz="2800" u="none" strike="noStrike" dirty="0" smtClean="0">
                          <a:effectLst/>
                        </a:rPr>
                        <a:t>L11 </a:t>
                      </a:r>
                      <a:r>
                        <a:rPr lang="en-US" altLang="zh-TW" sz="2800" u="none" strike="noStrike" dirty="0" smtClean="0">
                          <a:effectLst/>
                        </a:rPr>
                        <a:t> </a:t>
                      </a:r>
                      <a:r>
                        <a:rPr lang="en-US" altLang="zh-TW" sz="2800" u="none" strike="noStrike" dirty="0" err="1" smtClean="0">
                          <a:effectLst/>
                        </a:rPr>
                        <a:t>PoT</a:t>
                      </a:r>
                      <a:endParaRPr lang="en-US" sz="28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2138939020"/>
                  </a:ext>
                </a:extLst>
              </a:tr>
              <a:tr h="517990">
                <a:tc>
                  <a:txBody>
                    <a:bodyPr/>
                    <a:lstStyle/>
                    <a:p>
                      <a:pPr algn="l" fontAlgn="ctr"/>
                      <a:r>
                        <a:rPr lang="en-US" sz="2800" u="none" strike="noStrike">
                          <a:effectLst/>
                        </a:rPr>
                        <a:t>C202A_L10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a:effectLst/>
                        </a:rPr>
                        <a:t>Quanta C2020 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3055890803"/>
                  </a:ext>
                </a:extLst>
              </a:tr>
              <a:tr h="517990">
                <a:tc>
                  <a:txBody>
                    <a:bodyPr/>
                    <a:lstStyle/>
                    <a:p>
                      <a:pPr algn="l" fontAlgn="ctr"/>
                      <a:r>
                        <a:rPr lang="en-US" sz="2800" u="none" strike="noStrike">
                          <a:effectLst/>
                        </a:rPr>
                        <a:t>C2032_L10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a:effectLst/>
                        </a:rPr>
                        <a:t>Wiwynn C2030 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2110030230"/>
                  </a:ext>
                </a:extLst>
              </a:tr>
              <a:tr h="517990">
                <a:tc>
                  <a:txBody>
                    <a:bodyPr/>
                    <a:lstStyle/>
                    <a:p>
                      <a:pPr algn="l" fontAlgn="ctr"/>
                      <a:r>
                        <a:rPr lang="en-US" sz="2800" u="none" strike="noStrike">
                          <a:effectLst/>
                        </a:rPr>
                        <a:t>C206A_L10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a:effectLst/>
                        </a:rPr>
                        <a:t>Quanta C2060 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3759855045"/>
                  </a:ext>
                </a:extLst>
              </a:tr>
              <a:tr h="517990">
                <a:tc>
                  <a:txBody>
                    <a:bodyPr/>
                    <a:lstStyle/>
                    <a:p>
                      <a:pPr algn="l" fontAlgn="ctr"/>
                      <a:r>
                        <a:rPr lang="en-US" sz="2800" u="none" strike="noStrike">
                          <a:effectLst/>
                        </a:rPr>
                        <a:t>C207A_L10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a:effectLst/>
                        </a:rPr>
                        <a:t>Quanta C2070 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3318498659"/>
                  </a:ext>
                </a:extLst>
              </a:tr>
              <a:tr h="542656">
                <a:tc>
                  <a:txBody>
                    <a:bodyPr/>
                    <a:lstStyle/>
                    <a:p>
                      <a:pPr algn="l" fontAlgn="ctr"/>
                      <a:r>
                        <a:rPr lang="en-US" sz="2800" u="none" strike="noStrike">
                          <a:effectLst/>
                        </a:rPr>
                        <a:t>C2082_L10</a:t>
                      </a:r>
                      <a:endParaRPr lang="en-US" sz="28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2800" u="none" strike="noStrike" dirty="0">
                          <a:effectLst/>
                        </a:rPr>
                        <a:t>Wiwynn C2080 L10</a:t>
                      </a:r>
                      <a:endParaRPr lang="en-US" sz="28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3264206947"/>
                  </a:ext>
                </a:extLst>
              </a:tr>
            </a:tbl>
          </a:graphicData>
        </a:graphic>
      </p:graphicFrame>
    </p:spTree>
    <p:extLst>
      <p:ext uri="{BB962C8B-B14F-4D97-AF65-F5344CB8AC3E}">
        <p14:creationId xmlns:p14="http://schemas.microsoft.com/office/powerpoint/2010/main" val="149076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5374185"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a:t>
            </a:r>
          </a:p>
        </p:txBody>
      </p:sp>
      <p:sp>
        <p:nvSpPr>
          <p:cNvPr id="4" name="文字方塊 3"/>
          <p:cNvSpPr txBox="1"/>
          <p:nvPr/>
        </p:nvSpPr>
        <p:spPr>
          <a:xfrm>
            <a:off x="253138" y="922319"/>
            <a:ext cx="5327469" cy="338554"/>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1600" i="1" dirty="0" smtClean="0">
                <a:solidFill>
                  <a:schemeClr val="bg1"/>
                </a:solidFill>
              </a:rPr>
              <a:t>CPU/Memory location mapping from SKU document</a:t>
            </a:r>
          </a:p>
        </p:txBody>
      </p:sp>
      <p:pic>
        <p:nvPicPr>
          <p:cNvPr id="9" name="圖片 8"/>
          <p:cNvPicPr>
            <a:picLocks noChangeAspect="1"/>
          </p:cNvPicPr>
          <p:nvPr/>
        </p:nvPicPr>
        <p:blipFill>
          <a:blip r:embed="rId2"/>
          <a:stretch>
            <a:fillRect/>
          </a:stretch>
        </p:blipFill>
        <p:spPr>
          <a:xfrm>
            <a:off x="229781" y="3719863"/>
            <a:ext cx="11818682" cy="2785439"/>
          </a:xfrm>
          <a:prstGeom prst="rect">
            <a:avLst/>
          </a:prstGeom>
        </p:spPr>
      </p:pic>
      <p:pic>
        <p:nvPicPr>
          <p:cNvPr id="5" name="圖片 4"/>
          <p:cNvPicPr>
            <a:picLocks noChangeAspect="1"/>
          </p:cNvPicPr>
          <p:nvPr/>
        </p:nvPicPr>
        <p:blipFill>
          <a:blip r:embed="rId3"/>
          <a:stretch>
            <a:fillRect/>
          </a:stretch>
        </p:blipFill>
        <p:spPr>
          <a:xfrm>
            <a:off x="5483254" y="532806"/>
            <a:ext cx="6708746" cy="3085605"/>
          </a:xfrm>
          <a:prstGeom prst="rect">
            <a:avLst/>
          </a:prstGeom>
        </p:spPr>
      </p:pic>
      <p:sp>
        <p:nvSpPr>
          <p:cNvPr id="6" name="文字方塊 5"/>
          <p:cNvSpPr txBox="1"/>
          <p:nvPr/>
        </p:nvSpPr>
        <p:spPr>
          <a:xfrm>
            <a:off x="229780" y="1306286"/>
            <a:ext cx="5139053" cy="203132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dirty="0" smtClean="0">
                <a:solidFill>
                  <a:schemeClr val="tx1"/>
                </a:solidFill>
              </a:rPr>
              <a:t>According to there is no location information in cross table (only the quantity), therefore you have to refer the SKU document for the physical location.</a:t>
            </a:r>
          </a:p>
          <a:p>
            <a:endParaRPr lang="en-US" altLang="zh-TW" dirty="0">
              <a:solidFill>
                <a:schemeClr val="tx1"/>
              </a:solidFill>
            </a:endParaRPr>
          </a:p>
          <a:p>
            <a:r>
              <a:rPr lang="en-US" altLang="zh-TW" dirty="0" smtClean="0">
                <a:solidFill>
                  <a:schemeClr val="tx1"/>
                </a:solidFill>
              </a:rPr>
              <a:t>In the SKU document, it tells you about  the location for the devices should be installed or not.</a:t>
            </a:r>
            <a:endParaRPr lang="zh-TW" altLang="en-US" dirty="0">
              <a:solidFill>
                <a:schemeClr val="tx1"/>
              </a:solidFill>
            </a:endParaRPr>
          </a:p>
        </p:txBody>
      </p:sp>
    </p:spTree>
    <p:extLst>
      <p:ext uri="{BB962C8B-B14F-4D97-AF65-F5344CB8AC3E}">
        <p14:creationId xmlns:p14="http://schemas.microsoft.com/office/powerpoint/2010/main" val="287682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3302727"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a:t>
            </a:r>
          </a:p>
        </p:txBody>
      </p:sp>
      <p:sp>
        <p:nvSpPr>
          <p:cNvPr id="4" name="文字方塊 3"/>
          <p:cNvSpPr txBox="1"/>
          <p:nvPr/>
        </p:nvSpPr>
        <p:spPr>
          <a:xfrm>
            <a:off x="229781" y="824805"/>
            <a:ext cx="4543697" cy="338554"/>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1600" i="1" dirty="0" err="1" smtClean="0">
                <a:solidFill>
                  <a:schemeClr val="bg1"/>
                </a:solidFill>
              </a:rPr>
              <a:t>PCIe</a:t>
            </a:r>
            <a:r>
              <a:rPr lang="en-US" altLang="zh-TW" sz="1600" i="1" dirty="0" smtClean="0">
                <a:solidFill>
                  <a:schemeClr val="bg1"/>
                </a:solidFill>
              </a:rPr>
              <a:t> location mapping from SKU document</a:t>
            </a:r>
          </a:p>
        </p:txBody>
      </p:sp>
      <p:pic>
        <p:nvPicPr>
          <p:cNvPr id="14" name="圖片 13"/>
          <p:cNvPicPr>
            <a:picLocks noChangeAspect="1"/>
          </p:cNvPicPr>
          <p:nvPr/>
        </p:nvPicPr>
        <p:blipFill>
          <a:blip r:embed="rId2"/>
          <a:stretch>
            <a:fillRect/>
          </a:stretch>
        </p:blipFill>
        <p:spPr>
          <a:xfrm>
            <a:off x="229781" y="4124812"/>
            <a:ext cx="11678902" cy="2458868"/>
          </a:xfrm>
          <a:prstGeom prst="rect">
            <a:avLst/>
          </a:prstGeom>
        </p:spPr>
      </p:pic>
      <p:pic>
        <p:nvPicPr>
          <p:cNvPr id="2" name="圖片 1"/>
          <p:cNvPicPr>
            <a:picLocks noChangeAspect="1"/>
          </p:cNvPicPr>
          <p:nvPr/>
        </p:nvPicPr>
        <p:blipFill>
          <a:blip r:embed="rId3"/>
          <a:stretch>
            <a:fillRect/>
          </a:stretch>
        </p:blipFill>
        <p:spPr>
          <a:xfrm>
            <a:off x="4677465" y="415241"/>
            <a:ext cx="7418741" cy="3581993"/>
          </a:xfrm>
          <a:prstGeom prst="rect">
            <a:avLst/>
          </a:prstGeom>
        </p:spPr>
      </p:pic>
      <p:sp>
        <p:nvSpPr>
          <p:cNvPr id="6" name="文字方塊 5"/>
          <p:cNvSpPr txBox="1"/>
          <p:nvPr/>
        </p:nvSpPr>
        <p:spPr>
          <a:xfrm>
            <a:off x="229781" y="1517653"/>
            <a:ext cx="4094026" cy="230832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dirty="0" smtClean="0">
                <a:solidFill>
                  <a:schemeClr val="tx1"/>
                </a:solidFill>
              </a:rPr>
              <a:t>M.2 devices are on the location of </a:t>
            </a:r>
            <a:r>
              <a:rPr lang="en-US" altLang="zh-TW" dirty="0" err="1" smtClean="0">
                <a:solidFill>
                  <a:schemeClr val="tx1"/>
                </a:solidFill>
              </a:rPr>
              <a:t>PCIe</a:t>
            </a:r>
            <a:r>
              <a:rPr lang="en-US" altLang="zh-TW" dirty="0" smtClean="0">
                <a:solidFill>
                  <a:schemeClr val="tx1"/>
                </a:solidFill>
              </a:rPr>
              <a:t> Slot#1-4. basically the </a:t>
            </a:r>
            <a:r>
              <a:rPr lang="en-US" altLang="zh-TW" dirty="0" err="1" smtClean="0">
                <a:solidFill>
                  <a:schemeClr val="tx1"/>
                </a:solidFill>
              </a:rPr>
              <a:t>PCIe</a:t>
            </a:r>
            <a:r>
              <a:rPr lang="en-US" altLang="zh-TW" dirty="0" smtClean="0">
                <a:solidFill>
                  <a:schemeClr val="tx1"/>
                </a:solidFill>
              </a:rPr>
              <a:t> Slot#1 has no M.2 to be installed, only the slot #2-4.</a:t>
            </a:r>
          </a:p>
          <a:p>
            <a:endParaRPr lang="en-US" altLang="zh-TW" dirty="0">
              <a:solidFill>
                <a:schemeClr val="tx1"/>
              </a:solidFill>
            </a:endParaRPr>
          </a:p>
          <a:p>
            <a:r>
              <a:rPr lang="en-US" altLang="zh-TW" dirty="0" smtClean="0">
                <a:solidFill>
                  <a:schemeClr val="tx1"/>
                </a:solidFill>
              </a:rPr>
              <a:t>The FPGA is the device of L11.</a:t>
            </a:r>
          </a:p>
          <a:p>
            <a:r>
              <a:rPr lang="en-US" altLang="zh-TW" dirty="0" smtClean="0">
                <a:solidFill>
                  <a:schemeClr val="tx1"/>
                </a:solidFill>
              </a:rPr>
              <a:t>But for C1042, it should be on L10 BOM list</a:t>
            </a:r>
            <a:endParaRPr lang="zh-TW" altLang="en-US" dirty="0">
              <a:solidFill>
                <a:schemeClr val="tx1"/>
              </a:solidFill>
            </a:endParaRPr>
          </a:p>
        </p:txBody>
      </p:sp>
      <p:pic>
        <p:nvPicPr>
          <p:cNvPr id="5" name="圖片 4"/>
          <p:cNvPicPr>
            <a:picLocks noChangeAspect="1"/>
          </p:cNvPicPr>
          <p:nvPr/>
        </p:nvPicPr>
        <p:blipFill>
          <a:blip r:embed="rId4"/>
          <a:stretch>
            <a:fillRect/>
          </a:stretch>
        </p:blipFill>
        <p:spPr>
          <a:xfrm>
            <a:off x="4661743" y="3065717"/>
            <a:ext cx="7450183" cy="1015582"/>
          </a:xfrm>
          <a:prstGeom prst="rect">
            <a:avLst/>
          </a:prstGeom>
        </p:spPr>
      </p:pic>
    </p:spTree>
    <p:extLst>
      <p:ext uri="{BB962C8B-B14F-4D97-AF65-F5344CB8AC3E}">
        <p14:creationId xmlns:p14="http://schemas.microsoft.com/office/powerpoint/2010/main" val="1342203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3302727"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a:t>
            </a:r>
          </a:p>
        </p:txBody>
      </p:sp>
      <p:sp>
        <p:nvSpPr>
          <p:cNvPr id="4" name="文字方塊 3"/>
          <p:cNvSpPr txBox="1"/>
          <p:nvPr/>
        </p:nvSpPr>
        <p:spPr>
          <a:xfrm>
            <a:off x="629194" y="789319"/>
            <a:ext cx="5327469" cy="338554"/>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1600" i="1" dirty="0" smtClean="0">
                <a:solidFill>
                  <a:schemeClr val="bg1"/>
                </a:solidFill>
              </a:rPr>
              <a:t>M.2/SSD/HDD location mapping from SKU document</a:t>
            </a:r>
          </a:p>
        </p:txBody>
      </p:sp>
      <p:pic>
        <p:nvPicPr>
          <p:cNvPr id="7" name="圖片 6"/>
          <p:cNvPicPr>
            <a:picLocks noChangeAspect="1"/>
          </p:cNvPicPr>
          <p:nvPr/>
        </p:nvPicPr>
        <p:blipFill>
          <a:blip r:embed="rId2"/>
          <a:stretch>
            <a:fillRect/>
          </a:stretch>
        </p:blipFill>
        <p:spPr>
          <a:xfrm>
            <a:off x="629194" y="1250984"/>
            <a:ext cx="8815732" cy="5348016"/>
          </a:xfrm>
          <a:prstGeom prst="rect">
            <a:avLst/>
          </a:prstGeom>
        </p:spPr>
      </p:pic>
    </p:spTree>
    <p:extLst>
      <p:ext uri="{BB962C8B-B14F-4D97-AF65-F5344CB8AC3E}">
        <p14:creationId xmlns:p14="http://schemas.microsoft.com/office/powerpoint/2010/main" val="360871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3302727"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a:t>
            </a:r>
          </a:p>
        </p:txBody>
      </p:sp>
      <p:sp>
        <p:nvSpPr>
          <p:cNvPr id="4" name="文字方塊 3"/>
          <p:cNvSpPr txBox="1"/>
          <p:nvPr/>
        </p:nvSpPr>
        <p:spPr>
          <a:xfrm>
            <a:off x="629194" y="789319"/>
            <a:ext cx="5327469" cy="338554"/>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1600" i="1" dirty="0" smtClean="0">
                <a:solidFill>
                  <a:schemeClr val="bg1"/>
                </a:solidFill>
              </a:rPr>
              <a:t>L11 Chassis location mapping from SKU document</a:t>
            </a:r>
          </a:p>
        </p:txBody>
      </p:sp>
      <p:graphicFrame>
        <p:nvGraphicFramePr>
          <p:cNvPr id="5" name="表格 4"/>
          <p:cNvGraphicFramePr>
            <a:graphicFrameLocks noGrp="1"/>
          </p:cNvGraphicFramePr>
          <p:nvPr>
            <p:extLst>
              <p:ext uri="{D42A27DB-BD31-4B8C-83A1-F6EECF244321}">
                <p14:modId xmlns:p14="http://schemas.microsoft.com/office/powerpoint/2010/main" val="755886855"/>
              </p:ext>
            </p:extLst>
          </p:nvPr>
        </p:nvGraphicFramePr>
        <p:xfrm>
          <a:off x="629193" y="1068102"/>
          <a:ext cx="5928361" cy="1662033"/>
        </p:xfrm>
        <a:graphic>
          <a:graphicData uri="http://schemas.openxmlformats.org/drawingml/2006/table">
            <a:tbl>
              <a:tblPr>
                <a:tableStyleId>{5C22544A-7EE6-4342-B048-85BDC9FD1C3A}</a:tableStyleId>
              </a:tblPr>
              <a:tblGrid>
                <a:gridCol w="1456537">
                  <a:extLst>
                    <a:ext uri="{9D8B030D-6E8A-4147-A177-3AD203B41FA5}">
                      <a16:colId xmlns:a16="http://schemas.microsoft.com/office/drawing/2014/main" val="2579904690"/>
                    </a:ext>
                  </a:extLst>
                </a:gridCol>
                <a:gridCol w="1993156">
                  <a:extLst>
                    <a:ext uri="{9D8B030D-6E8A-4147-A177-3AD203B41FA5}">
                      <a16:colId xmlns:a16="http://schemas.microsoft.com/office/drawing/2014/main" val="1791151786"/>
                    </a:ext>
                  </a:extLst>
                </a:gridCol>
                <a:gridCol w="2478668">
                  <a:extLst>
                    <a:ext uri="{9D8B030D-6E8A-4147-A177-3AD203B41FA5}">
                      <a16:colId xmlns:a16="http://schemas.microsoft.com/office/drawing/2014/main" val="1677195264"/>
                    </a:ext>
                  </a:extLst>
                </a:gridCol>
              </a:tblGrid>
              <a:tr h="235829">
                <a:tc rowSpan="7">
                  <a:txBody>
                    <a:bodyPr/>
                    <a:lstStyle/>
                    <a:p>
                      <a:pPr algn="ctr" fontAlgn="ctr"/>
                      <a:r>
                        <a:rPr lang="en-US" sz="1200" u="none" strike="noStrike" dirty="0">
                          <a:effectLst/>
                        </a:rPr>
                        <a:t>Mt. Stuart</a:t>
                      </a:r>
                      <a:endParaRPr lang="en-US" sz="12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dirty="0">
                          <a:effectLst/>
                        </a:rPr>
                        <a:t>Logic </a:t>
                      </a:r>
                      <a:r>
                        <a:rPr lang="en-US" sz="1200" u="none" strike="noStrike" dirty="0" smtClean="0">
                          <a:effectLst/>
                        </a:rPr>
                        <a:t>Location Name</a:t>
                      </a:r>
                      <a:endParaRPr lang="en-US" sz="12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dirty="0">
                          <a:effectLst/>
                        </a:rPr>
                        <a:t>Physical </a:t>
                      </a:r>
                      <a:r>
                        <a:rPr lang="en-US" sz="1200" u="none" strike="noStrike" dirty="0" smtClean="0">
                          <a:effectLst/>
                        </a:rPr>
                        <a:t>Location Name</a:t>
                      </a:r>
                      <a:endParaRPr lang="en-US" sz="12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3003111545"/>
                  </a:ext>
                </a:extLst>
              </a:tr>
              <a:tr h="235829">
                <a:tc vMerge="1">
                  <a:txBody>
                    <a:bodyPr/>
                    <a:lstStyle/>
                    <a:p>
                      <a:endParaRPr lang="zh-TW" altLang="en-US"/>
                    </a:p>
                  </a:txBody>
                  <a:tcPr/>
                </a:tc>
                <a:tc>
                  <a:txBody>
                    <a:bodyPr/>
                    <a:lstStyle/>
                    <a:p>
                      <a:pPr algn="l" fontAlgn="ctr"/>
                      <a:r>
                        <a:rPr lang="en-US" sz="1200" u="none" strike="noStrike">
                          <a:effectLst/>
                        </a:rPr>
                        <a:t>ToR</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a:effectLst/>
                        </a:rPr>
                        <a:t>SWITCH1</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863292101"/>
                  </a:ext>
                </a:extLst>
              </a:tr>
              <a:tr h="235829">
                <a:tc vMerge="1">
                  <a:txBody>
                    <a:bodyPr/>
                    <a:lstStyle/>
                    <a:p>
                      <a:endParaRPr lang="zh-TW" altLang="en-US"/>
                    </a:p>
                  </a:txBody>
                  <a:tcPr/>
                </a:tc>
                <a:tc>
                  <a:txBody>
                    <a:bodyPr/>
                    <a:lstStyle/>
                    <a:p>
                      <a:pPr algn="l" fontAlgn="ctr"/>
                      <a:r>
                        <a:rPr lang="en-US" sz="1200" u="none" strike="noStrike">
                          <a:effectLst/>
                        </a:rPr>
                        <a:t>PDU1</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a:effectLst/>
                        </a:rPr>
                        <a:t>PDU1</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468815811"/>
                  </a:ext>
                </a:extLst>
              </a:tr>
              <a:tr h="235829">
                <a:tc vMerge="1">
                  <a:txBody>
                    <a:bodyPr/>
                    <a:lstStyle/>
                    <a:p>
                      <a:endParaRPr lang="zh-TW" altLang="en-US"/>
                    </a:p>
                  </a:txBody>
                  <a:tcPr/>
                </a:tc>
                <a:tc>
                  <a:txBody>
                    <a:bodyPr/>
                    <a:lstStyle/>
                    <a:p>
                      <a:pPr algn="l" fontAlgn="ctr"/>
                      <a:r>
                        <a:rPr lang="en-US" sz="1200" u="none" strike="noStrike">
                          <a:effectLst/>
                        </a:rPr>
                        <a:t>PDU2</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a:effectLst/>
                        </a:rPr>
                        <a:t>PDU2</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4048421967"/>
                  </a:ext>
                </a:extLst>
              </a:tr>
              <a:tr h="235829">
                <a:tc vMerge="1">
                  <a:txBody>
                    <a:bodyPr/>
                    <a:lstStyle/>
                    <a:p>
                      <a:endParaRPr lang="zh-TW" altLang="en-US"/>
                    </a:p>
                  </a:txBody>
                  <a:tcPr/>
                </a:tc>
                <a:tc>
                  <a:txBody>
                    <a:bodyPr/>
                    <a:lstStyle/>
                    <a:p>
                      <a:pPr algn="l" fontAlgn="ctr"/>
                      <a:r>
                        <a:rPr lang="en-US" sz="1200" u="none" strike="noStrike">
                          <a:effectLst/>
                        </a:rPr>
                        <a:t>UPS</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dirty="0">
                          <a:effectLst/>
                        </a:rPr>
                        <a:t>UPS1</a:t>
                      </a:r>
                      <a:endParaRPr lang="en-US" sz="12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637352563"/>
                  </a:ext>
                </a:extLst>
              </a:tr>
              <a:tr h="235829">
                <a:tc vMerge="1">
                  <a:txBody>
                    <a:bodyPr/>
                    <a:lstStyle/>
                    <a:p>
                      <a:endParaRPr lang="zh-TW" altLang="en-US"/>
                    </a:p>
                  </a:txBody>
                  <a:tcPr/>
                </a:tc>
                <a:tc>
                  <a:txBody>
                    <a:bodyPr/>
                    <a:lstStyle/>
                    <a:p>
                      <a:pPr algn="l" fontAlgn="ctr"/>
                      <a:r>
                        <a:rPr lang="en-US" sz="1200" u="none" strike="noStrike">
                          <a:effectLst/>
                        </a:rPr>
                        <a:t>Load Balance</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a:effectLst/>
                        </a:rPr>
                        <a:t>MPX1</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1557084673"/>
                  </a:ext>
                </a:extLst>
              </a:tr>
              <a:tr h="247059">
                <a:tc vMerge="1">
                  <a:txBody>
                    <a:bodyPr/>
                    <a:lstStyle/>
                    <a:p>
                      <a:endParaRPr lang="zh-TW" altLang="en-US"/>
                    </a:p>
                  </a:txBody>
                  <a:tcPr/>
                </a:tc>
                <a:tc>
                  <a:txBody>
                    <a:bodyPr/>
                    <a:lstStyle/>
                    <a:p>
                      <a:pPr algn="l" fontAlgn="ctr"/>
                      <a:r>
                        <a:rPr lang="en-US" sz="1200" u="none" strike="noStrike">
                          <a:effectLst/>
                        </a:rPr>
                        <a:t>miniPDU</a:t>
                      </a:r>
                      <a:endParaRPr lang="en-US" sz="1200" b="0" i="0" u="none" strike="noStrike">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tc>
                  <a:txBody>
                    <a:bodyPr/>
                    <a:lstStyle/>
                    <a:p>
                      <a:pPr algn="l" fontAlgn="ctr"/>
                      <a:r>
                        <a:rPr lang="en-US" sz="1200" u="none" strike="noStrike" dirty="0">
                          <a:effectLst/>
                        </a:rPr>
                        <a:t>MINIPDU1</a:t>
                      </a:r>
                      <a:endParaRPr lang="en-US" sz="1200" b="0" i="0" u="none" strike="noStrike" dirty="0">
                        <a:solidFill>
                          <a:srgbClr val="000000"/>
                        </a:solidFill>
                        <a:effectLst/>
                        <a:latin typeface="Calibri" panose="020F0502020204030204" pitchFamily="34" charset="0"/>
                        <a:ea typeface="新細明體" panose="02020500000000000000" pitchFamily="18" charset="-120"/>
                      </a:endParaRPr>
                    </a:p>
                  </a:txBody>
                  <a:tcPr marL="9525" marR="9525" marT="9525" marB="0" anchor="ctr"/>
                </a:tc>
                <a:extLst>
                  <a:ext uri="{0D108BD9-81ED-4DB2-BD59-A6C34878D82A}">
                    <a16:rowId xmlns:a16="http://schemas.microsoft.com/office/drawing/2014/main" val="2104020377"/>
                  </a:ext>
                </a:extLst>
              </a:tr>
            </a:tbl>
          </a:graphicData>
        </a:graphic>
      </p:graphicFrame>
      <p:pic>
        <p:nvPicPr>
          <p:cNvPr id="8" name="圖片 7"/>
          <p:cNvPicPr>
            <a:picLocks noChangeAspect="1"/>
          </p:cNvPicPr>
          <p:nvPr/>
        </p:nvPicPr>
        <p:blipFill>
          <a:blip r:embed="rId2"/>
          <a:stretch>
            <a:fillRect/>
          </a:stretch>
        </p:blipFill>
        <p:spPr>
          <a:xfrm>
            <a:off x="629193" y="2730135"/>
            <a:ext cx="8951482" cy="3843537"/>
          </a:xfrm>
          <a:prstGeom prst="rect">
            <a:avLst/>
          </a:prstGeom>
        </p:spPr>
      </p:pic>
      <p:sp>
        <p:nvSpPr>
          <p:cNvPr id="2" name="文字方塊 1"/>
          <p:cNvSpPr txBox="1"/>
          <p:nvPr/>
        </p:nvSpPr>
        <p:spPr>
          <a:xfrm>
            <a:off x="6988628" y="2360803"/>
            <a:ext cx="2272938" cy="369332"/>
          </a:xfrm>
          <a:prstGeom prst="rect">
            <a:avLst/>
          </a:prstGeom>
          <a:solidFill>
            <a:srgbClr val="FFFF00"/>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dirty="0" err="1" smtClean="0">
                <a:solidFill>
                  <a:schemeClr val="tx1"/>
                </a:solidFill>
              </a:rPr>
              <a:t>CHx</a:t>
            </a:r>
            <a:r>
              <a:rPr lang="en-US" altLang="zh-TW" dirty="0" smtClean="0">
                <a:solidFill>
                  <a:schemeClr val="tx1"/>
                </a:solidFill>
              </a:rPr>
              <a:t> </a:t>
            </a:r>
            <a:r>
              <a:rPr lang="en-US" altLang="zh-TW" dirty="0" smtClean="0">
                <a:solidFill>
                  <a:schemeClr val="tx1"/>
                </a:solidFill>
                <a:sym typeface="Wingdings" panose="05000000000000000000" pitchFamily="2" charset="2"/>
              </a:rPr>
              <a:t> Chassis #x</a:t>
            </a:r>
            <a:endParaRPr lang="zh-TW" altLang="en-US" dirty="0">
              <a:solidFill>
                <a:schemeClr val="tx1"/>
              </a:solidFill>
            </a:endParaRPr>
          </a:p>
        </p:txBody>
      </p:sp>
    </p:spTree>
    <p:extLst>
      <p:ext uri="{BB962C8B-B14F-4D97-AF65-F5344CB8AC3E}">
        <p14:creationId xmlns:p14="http://schemas.microsoft.com/office/powerpoint/2010/main" val="43876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(L10) </a:t>
            </a:r>
          </a:p>
        </p:txBody>
      </p:sp>
      <p:pic>
        <p:nvPicPr>
          <p:cNvPr id="2" name="圖片 1"/>
          <p:cNvPicPr>
            <a:picLocks noChangeAspect="1"/>
          </p:cNvPicPr>
          <p:nvPr/>
        </p:nvPicPr>
        <p:blipFill>
          <a:blip r:embed="rId2"/>
          <a:stretch>
            <a:fillRect/>
          </a:stretch>
        </p:blipFill>
        <p:spPr>
          <a:xfrm>
            <a:off x="114845" y="972230"/>
            <a:ext cx="4229100" cy="1647825"/>
          </a:xfrm>
          <a:prstGeom prst="rect">
            <a:avLst/>
          </a:prstGeom>
        </p:spPr>
      </p:pic>
      <p:pic>
        <p:nvPicPr>
          <p:cNvPr id="7" name="圖片 6"/>
          <p:cNvPicPr>
            <a:picLocks noChangeAspect="1"/>
          </p:cNvPicPr>
          <p:nvPr/>
        </p:nvPicPr>
        <p:blipFill>
          <a:blip r:embed="rId3"/>
          <a:stretch>
            <a:fillRect/>
          </a:stretch>
        </p:blipFill>
        <p:spPr>
          <a:xfrm>
            <a:off x="5604452" y="567694"/>
            <a:ext cx="4962525" cy="3571875"/>
          </a:xfrm>
          <a:prstGeom prst="rect">
            <a:avLst/>
          </a:prstGeom>
        </p:spPr>
      </p:pic>
      <p:sp>
        <p:nvSpPr>
          <p:cNvPr id="8" name="向下箭號 7"/>
          <p:cNvSpPr/>
          <p:nvPr/>
        </p:nvSpPr>
        <p:spPr>
          <a:xfrm rot="16200000">
            <a:off x="4041526" y="1438342"/>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p:cNvPicPr>
            <a:picLocks noChangeAspect="1"/>
          </p:cNvPicPr>
          <p:nvPr/>
        </p:nvPicPr>
        <p:blipFill>
          <a:blip r:embed="rId4"/>
          <a:stretch>
            <a:fillRect/>
          </a:stretch>
        </p:blipFill>
        <p:spPr>
          <a:xfrm>
            <a:off x="5604452" y="4139569"/>
            <a:ext cx="5067902" cy="2518777"/>
          </a:xfrm>
          <a:prstGeom prst="rect">
            <a:avLst/>
          </a:prstGeom>
        </p:spPr>
      </p:pic>
      <p:sp>
        <p:nvSpPr>
          <p:cNvPr id="11" name="向下箭號 10"/>
          <p:cNvSpPr/>
          <p:nvPr/>
        </p:nvSpPr>
        <p:spPr>
          <a:xfrm>
            <a:off x="6105968" y="3887133"/>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229781" y="2871471"/>
            <a:ext cx="5374671" cy="3416320"/>
          </a:xfrm>
          <a:prstGeom prst="rect">
            <a:avLst/>
          </a:prstGeom>
        </p:spPr>
        <p:txBody>
          <a:bodyPr wrap="square">
            <a:spAutoFit/>
          </a:bodyPr>
          <a:lstStyle/>
          <a:p>
            <a:r>
              <a:rPr lang="en-US" altLang="zh-TW" i="1" dirty="0" smtClean="0"/>
              <a:t>Select Model Reference</a:t>
            </a:r>
          </a:p>
          <a:p>
            <a:r>
              <a:rPr lang="en-US" altLang="zh-TW" i="1" dirty="0" smtClean="0"/>
              <a:t>i.e.</a:t>
            </a:r>
          </a:p>
          <a:p>
            <a:r>
              <a:rPr lang="en-US" altLang="zh-TW" i="1" dirty="0" smtClean="0"/>
              <a:t>“C1042_L10” for Mt. Stuart L10 level BOM.</a:t>
            </a:r>
          </a:p>
          <a:p>
            <a:r>
              <a:rPr lang="en-US" altLang="zh-TW" i="1" dirty="0" smtClean="0">
                <a:solidFill>
                  <a:srgbClr val="FF0000"/>
                </a:solidFill>
              </a:rPr>
              <a:t>(see more detail </a:t>
            </a:r>
            <a:r>
              <a:rPr lang="en-US" altLang="zh-TW" i="1" dirty="0" err="1" smtClean="0">
                <a:solidFill>
                  <a:srgbClr val="FF0000"/>
                </a:solidFill>
              </a:rPr>
              <a:t>modelref</a:t>
            </a:r>
            <a:r>
              <a:rPr lang="en-US" altLang="zh-TW" i="1" dirty="0" smtClean="0">
                <a:solidFill>
                  <a:srgbClr val="FF0000"/>
                </a:solidFill>
              </a:rPr>
              <a:t>  in previous page)</a:t>
            </a:r>
          </a:p>
          <a:p>
            <a:r>
              <a:rPr lang="en-US" altLang="zh-TW" i="1" dirty="0" smtClean="0"/>
              <a:t>then select “L10” in location field.</a:t>
            </a:r>
          </a:p>
          <a:p>
            <a:endParaRPr lang="en-US" altLang="zh-TW" i="1" dirty="0"/>
          </a:p>
          <a:p>
            <a:r>
              <a:rPr lang="en-US" altLang="zh-TW" i="1" dirty="0" smtClean="0"/>
              <a:t>In the QVL list,</a:t>
            </a:r>
          </a:p>
          <a:p>
            <a:r>
              <a:rPr lang="en-US" altLang="zh-TW" i="1" dirty="0" smtClean="0"/>
              <a:t>Check if PN exist or not.</a:t>
            </a:r>
          </a:p>
          <a:p>
            <a:r>
              <a:rPr lang="en-US" altLang="zh-TW" i="1" dirty="0" smtClean="0"/>
              <a:t>If PN exists then check device PN for all L10 location make sure device PNs are in QVL list, then go to Test BOM tab, if not you have to add new PN into L10 QVL.</a:t>
            </a:r>
          </a:p>
        </p:txBody>
      </p:sp>
    </p:spTree>
    <p:extLst>
      <p:ext uri="{BB962C8B-B14F-4D97-AF65-F5344CB8AC3E}">
        <p14:creationId xmlns:p14="http://schemas.microsoft.com/office/powerpoint/2010/main" val="283000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(L10) </a:t>
            </a:r>
          </a:p>
        </p:txBody>
      </p:sp>
      <p:sp>
        <p:nvSpPr>
          <p:cNvPr id="13" name="矩形 12"/>
          <p:cNvSpPr/>
          <p:nvPr/>
        </p:nvSpPr>
        <p:spPr>
          <a:xfrm>
            <a:off x="229781" y="852475"/>
            <a:ext cx="11657420" cy="923330"/>
          </a:xfrm>
          <a:prstGeom prst="rect">
            <a:avLst/>
          </a:prstGeom>
        </p:spPr>
        <p:txBody>
          <a:bodyPr wrap="square">
            <a:spAutoFit/>
          </a:bodyPr>
          <a:lstStyle/>
          <a:p>
            <a:r>
              <a:rPr lang="en-US" altLang="zh-TW" i="1" dirty="0" smtClean="0"/>
              <a:t>For location “CRD”, </a:t>
            </a:r>
          </a:p>
          <a:p>
            <a:r>
              <a:rPr lang="en-US" altLang="zh-TW" i="1" dirty="0" smtClean="0"/>
              <a:t>The PN is the number of CRD.</a:t>
            </a:r>
          </a:p>
          <a:p>
            <a:r>
              <a:rPr lang="en-US" altLang="zh-TW" i="1" dirty="0" smtClean="0"/>
              <a:t>The description is the file name of the CRD without the extension.</a:t>
            </a:r>
          </a:p>
        </p:txBody>
      </p:sp>
      <p:pic>
        <p:nvPicPr>
          <p:cNvPr id="4" name="圖片 3"/>
          <p:cNvPicPr>
            <a:picLocks noChangeAspect="1"/>
          </p:cNvPicPr>
          <p:nvPr/>
        </p:nvPicPr>
        <p:blipFill>
          <a:blip r:embed="rId2"/>
          <a:stretch>
            <a:fillRect/>
          </a:stretch>
        </p:blipFill>
        <p:spPr>
          <a:xfrm>
            <a:off x="229781" y="1939462"/>
            <a:ext cx="11554436" cy="4605029"/>
          </a:xfrm>
          <a:prstGeom prst="rect">
            <a:avLst/>
          </a:prstGeom>
        </p:spPr>
      </p:pic>
    </p:spTree>
    <p:extLst>
      <p:ext uri="{BB962C8B-B14F-4D97-AF65-F5344CB8AC3E}">
        <p14:creationId xmlns:p14="http://schemas.microsoft.com/office/powerpoint/2010/main" val="2677427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(L10) </a:t>
            </a:r>
          </a:p>
        </p:txBody>
      </p:sp>
      <p:pic>
        <p:nvPicPr>
          <p:cNvPr id="12" name="圖片 11"/>
          <p:cNvPicPr>
            <a:picLocks noChangeAspect="1"/>
          </p:cNvPicPr>
          <p:nvPr/>
        </p:nvPicPr>
        <p:blipFill>
          <a:blip r:embed="rId2"/>
          <a:stretch>
            <a:fillRect/>
          </a:stretch>
        </p:blipFill>
        <p:spPr>
          <a:xfrm>
            <a:off x="98651" y="2451259"/>
            <a:ext cx="9077325" cy="3695700"/>
          </a:xfrm>
          <a:prstGeom prst="rect">
            <a:avLst/>
          </a:prstGeom>
        </p:spPr>
      </p:pic>
      <p:sp>
        <p:nvSpPr>
          <p:cNvPr id="13" name="矩形 12"/>
          <p:cNvSpPr/>
          <p:nvPr/>
        </p:nvSpPr>
        <p:spPr>
          <a:xfrm>
            <a:off x="282031" y="876906"/>
            <a:ext cx="10874150" cy="1477328"/>
          </a:xfrm>
          <a:prstGeom prst="rect">
            <a:avLst/>
          </a:prstGeom>
        </p:spPr>
        <p:txBody>
          <a:bodyPr wrap="square">
            <a:spAutoFit/>
          </a:bodyPr>
          <a:lstStyle/>
          <a:p>
            <a:r>
              <a:rPr lang="en-US" altLang="zh-TW" i="1" dirty="0">
                <a:solidFill>
                  <a:srgbClr val="FF0000"/>
                </a:solidFill>
              </a:rPr>
              <a:t>Check all PNs in cross table for all </a:t>
            </a:r>
            <a:r>
              <a:rPr lang="en-US" altLang="zh-TW" i="1" dirty="0" smtClean="0">
                <a:solidFill>
                  <a:srgbClr val="FF0000"/>
                </a:solidFill>
              </a:rPr>
              <a:t>locations </a:t>
            </a:r>
            <a:r>
              <a:rPr lang="en-US" altLang="zh-TW" i="1" dirty="0">
                <a:solidFill>
                  <a:srgbClr val="FF0000"/>
                </a:solidFill>
              </a:rPr>
              <a:t>in the list before go to test BOM </a:t>
            </a:r>
            <a:r>
              <a:rPr lang="en-US" altLang="zh-TW" i="1" dirty="0" smtClean="0">
                <a:solidFill>
                  <a:srgbClr val="FF0000"/>
                </a:solidFill>
              </a:rPr>
              <a:t>tab.</a:t>
            </a:r>
          </a:p>
          <a:p>
            <a:endParaRPr lang="en-US" altLang="zh-TW" i="1" dirty="0" smtClean="0"/>
          </a:p>
          <a:p>
            <a:r>
              <a:rPr lang="en-US" altLang="zh-TW" i="1" dirty="0" smtClean="0"/>
              <a:t>Key-in new PN number on PN field, then go to </a:t>
            </a:r>
            <a:r>
              <a:rPr lang="en-US" altLang="zh-TW" i="1" dirty="0" smtClean="0">
                <a:hlinkClick r:id="rId3"/>
              </a:rPr>
              <a:t>http</a:t>
            </a:r>
            <a:r>
              <a:rPr lang="en-US" altLang="zh-TW" i="1" dirty="0">
                <a:hlinkClick r:id="rId3"/>
              </a:rPr>
              <a:t>://</a:t>
            </a:r>
            <a:r>
              <a:rPr lang="en-US" altLang="zh-TW" i="1" dirty="0" smtClean="0">
                <a:hlinkClick r:id="rId3"/>
              </a:rPr>
              <a:t>wpqssvr.wistron.com.tw/wpqs_plm.htm</a:t>
            </a:r>
            <a:r>
              <a:rPr lang="en-US" altLang="zh-TW" i="1" dirty="0" smtClean="0"/>
              <a:t> to find the description of the PN, then copy “General Description” to Description field.</a:t>
            </a:r>
            <a:endParaRPr lang="en-US" altLang="zh-TW" i="1" dirty="0"/>
          </a:p>
          <a:p>
            <a:r>
              <a:rPr lang="en-US" altLang="zh-TW" i="1" dirty="0" smtClean="0"/>
              <a:t>Then click “ADD/MODIFY” button to add new PN into L10 level QVL</a:t>
            </a:r>
          </a:p>
        </p:txBody>
      </p:sp>
      <p:pic>
        <p:nvPicPr>
          <p:cNvPr id="15" name="圖片 14"/>
          <p:cNvPicPr>
            <a:picLocks noChangeAspect="1"/>
          </p:cNvPicPr>
          <p:nvPr/>
        </p:nvPicPr>
        <p:blipFill>
          <a:blip r:embed="rId4"/>
          <a:stretch>
            <a:fillRect/>
          </a:stretch>
        </p:blipFill>
        <p:spPr>
          <a:xfrm>
            <a:off x="5531687" y="4025612"/>
            <a:ext cx="6562725" cy="2562225"/>
          </a:xfrm>
          <a:prstGeom prst="rect">
            <a:avLst/>
          </a:prstGeom>
          <a:ln>
            <a:solidFill>
              <a:srgbClr val="010C10"/>
            </a:solidFill>
          </a:ln>
        </p:spPr>
      </p:pic>
      <p:sp>
        <p:nvSpPr>
          <p:cNvPr id="16" name="向右箭號 15"/>
          <p:cNvSpPr/>
          <p:nvPr/>
        </p:nvSpPr>
        <p:spPr>
          <a:xfrm rot="14434009">
            <a:off x="4330124" y="4168610"/>
            <a:ext cx="1517068" cy="46635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0826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stretch>
            <a:fillRect/>
          </a:stretch>
        </p:blipFill>
        <p:spPr>
          <a:xfrm>
            <a:off x="282031" y="2548283"/>
            <a:ext cx="8128087" cy="3748013"/>
          </a:xfrm>
          <a:prstGeom prst="rect">
            <a:avLst/>
          </a:prstGeom>
        </p:spPr>
      </p:pic>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(L11) </a:t>
            </a:r>
          </a:p>
        </p:txBody>
      </p:sp>
      <p:sp>
        <p:nvSpPr>
          <p:cNvPr id="5" name="矩形 4"/>
          <p:cNvSpPr/>
          <p:nvPr/>
        </p:nvSpPr>
        <p:spPr>
          <a:xfrm>
            <a:off x="282031" y="876906"/>
            <a:ext cx="10874150" cy="1477328"/>
          </a:xfrm>
          <a:prstGeom prst="rect">
            <a:avLst/>
          </a:prstGeom>
        </p:spPr>
        <p:txBody>
          <a:bodyPr wrap="square">
            <a:spAutoFit/>
          </a:bodyPr>
          <a:lstStyle/>
          <a:p>
            <a:r>
              <a:rPr lang="en-US" altLang="zh-TW" i="1" dirty="0">
                <a:solidFill>
                  <a:srgbClr val="FF0000"/>
                </a:solidFill>
              </a:rPr>
              <a:t>Check all PNs in cross table for all </a:t>
            </a:r>
            <a:r>
              <a:rPr lang="en-US" altLang="zh-TW" i="1" dirty="0" smtClean="0">
                <a:solidFill>
                  <a:srgbClr val="FF0000"/>
                </a:solidFill>
              </a:rPr>
              <a:t>locations </a:t>
            </a:r>
            <a:r>
              <a:rPr lang="en-US" altLang="zh-TW" i="1" dirty="0">
                <a:solidFill>
                  <a:srgbClr val="FF0000"/>
                </a:solidFill>
              </a:rPr>
              <a:t>in the list before go to test BOM </a:t>
            </a:r>
            <a:r>
              <a:rPr lang="en-US" altLang="zh-TW" i="1" dirty="0" smtClean="0">
                <a:solidFill>
                  <a:srgbClr val="FF0000"/>
                </a:solidFill>
              </a:rPr>
              <a:t>tab.</a:t>
            </a:r>
          </a:p>
          <a:p>
            <a:endParaRPr lang="en-US" altLang="zh-TW" i="1" dirty="0" smtClean="0"/>
          </a:p>
          <a:p>
            <a:r>
              <a:rPr lang="en-US" altLang="zh-TW" i="1" dirty="0" smtClean="0"/>
              <a:t>Key-in new PN number on PN field, then go to </a:t>
            </a:r>
            <a:r>
              <a:rPr lang="en-US" altLang="zh-TW" i="1" dirty="0" smtClean="0">
                <a:hlinkClick r:id="rId3"/>
              </a:rPr>
              <a:t>http</a:t>
            </a:r>
            <a:r>
              <a:rPr lang="en-US" altLang="zh-TW" i="1" dirty="0">
                <a:hlinkClick r:id="rId3"/>
              </a:rPr>
              <a:t>://</a:t>
            </a:r>
            <a:r>
              <a:rPr lang="en-US" altLang="zh-TW" i="1" dirty="0" smtClean="0">
                <a:hlinkClick r:id="rId3"/>
              </a:rPr>
              <a:t>wpqssvr.wistron.com.tw/wpqs_plm.htm</a:t>
            </a:r>
            <a:r>
              <a:rPr lang="en-US" altLang="zh-TW" i="1" dirty="0" smtClean="0"/>
              <a:t> to find the description of the PN, then copy “General Description” to Description field.</a:t>
            </a:r>
            <a:endParaRPr lang="en-US" altLang="zh-TW" i="1" dirty="0"/>
          </a:p>
          <a:p>
            <a:r>
              <a:rPr lang="en-US" altLang="zh-TW" i="1" dirty="0" smtClean="0"/>
              <a:t>Then click “ADD/MODIFY” button to add new PN into L11 level QVL</a:t>
            </a:r>
          </a:p>
        </p:txBody>
      </p:sp>
      <p:sp>
        <p:nvSpPr>
          <p:cNvPr id="7" name="向右箭號 6"/>
          <p:cNvSpPr/>
          <p:nvPr/>
        </p:nvSpPr>
        <p:spPr>
          <a:xfrm rot="13412269">
            <a:off x="4581174" y="4189110"/>
            <a:ext cx="1575988" cy="46635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p:cNvPicPr>
            <a:picLocks noChangeAspect="1"/>
          </p:cNvPicPr>
          <p:nvPr/>
        </p:nvPicPr>
        <p:blipFill>
          <a:blip r:embed="rId4"/>
          <a:stretch>
            <a:fillRect/>
          </a:stretch>
        </p:blipFill>
        <p:spPr>
          <a:xfrm>
            <a:off x="5932578" y="4369250"/>
            <a:ext cx="6048375" cy="2105025"/>
          </a:xfrm>
          <a:prstGeom prst="rect">
            <a:avLst/>
          </a:prstGeom>
          <a:ln>
            <a:solidFill>
              <a:srgbClr val="010C10"/>
            </a:solidFill>
          </a:ln>
        </p:spPr>
      </p:pic>
    </p:spTree>
    <p:extLst>
      <p:ext uri="{BB962C8B-B14F-4D97-AF65-F5344CB8AC3E}">
        <p14:creationId xmlns:p14="http://schemas.microsoft.com/office/powerpoint/2010/main" val="186721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(L11) </a:t>
            </a:r>
          </a:p>
        </p:txBody>
      </p:sp>
      <p:sp>
        <p:nvSpPr>
          <p:cNvPr id="5" name="矩形 4"/>
          <p:cNvSpPr/>
          <p:nvPr/>
        </p:nvSpPr>
        <p:spPr>
          <a:xfrm>
            <a:off x="229781" y="852475"/>
            <a:ext cx="11657420" cy="923330"/>
          </a:xfrm>
          <a:prstGeom prst="rect">
            <a:avLst/>
          </a:prstGeom>
        </p:spPr>
        <p:txBody>
          <a:bodyPr wrap="square">
            <a:spAutoFit/>
          </a:bodyPr>
          <a:lstStyle/>
          <a:p>
            <a:r>
              <a:rPr lang="en-US" altLang="zh-TW" i="1" dirty="0" smtClean="0"/>
              <a:t>For location “CRD” </a:t>
            </a:r>
          </a:p>
          <a:p>
            <a:r>
              <a:rPr lang="en-US" altLang="zh-TW" i="1" dirty="0" smtClean="0"/>
              <a:t>The PN is the number of CRD.</a:t>
            </a:r>
          </a:p>
          <a:p>
            <a:r>
              <a:rPr lang="en-US" altLang="zh-TW" i="1" dirty="0" smtClean="0"/>
              <a:t>The description is the file name of the CRD without the extension.</a:t>
            </a:r>
          </a:p>
        </p:txBody>
      </p:sp>
      <p:pic>
        <p:nvPicPr>
          <p:cNvPr id="2" name="圖片 1"/>
          <p:cNvPicPr>
            <a:picLocks noChangeAspect="1"/>
          </p:cNvPicPr>
          <p:nvPr/>
        </p:nvPicPr>
        <p:blipFill>
          <a:blip r:embed="rId2"/>
          <a:stretch>
            <a:fillRect/>
          </a:stretch>
        </p:blipFill>
        <p:spPr>
          <a:xfrm>
            <a:off x="229781" y="2213039"/>
            <a:ext cx="11437720" cy="3351576"/>
          </a:xfrm>
          <a:prstGeom prst="rect">
            <a:avLst/>
          </a:prstGeom>
        </p:spPr>
      </p:pic>
    </p:spTree>
    <p:extLst>
      <p:ext uri="{BB962C8B-B14F-4D97-AF65-F5344CB8AC3E}">
        <p14:creationId xmlns:p14="http://schemas.microsoft.com/office/powerpoint/2010/main" val="422498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29781" y="415241"/>
            <a:ext cx="4407533"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1)Create/Check QVL (L11) </a:t>
            </a:r>
          </a:p>
        </p:txBody>
      </p:sp>
      <p:sp>
        <p:nvSpPr>
          <p:cNvPr id="5" name="矩形 4"/>
          <p:cNvSpPr/>
          <p:nvPr/>
        </p:nvSpPr>
        <p:spPr>
          <a:xfrm>
            <a:off x="229781" y="852475"/>
            <a:ext cx="11657420" cy="923330"/>
          </a:xfrm>
          <a:prstGeom prst="rect">
            <a:avLst/>
          </a:prstGeom>
        </p:spPr>
        <p:txBody>
          <a:bodyPr wrap="square">
            <a:spAutoFit/>
          </a:bodyPr>
          <a:lstStyle/>
          <a:p>
            <a:r>
              <a:rPr lang="en-US" altLang="zh-TW" i="1" dirty="0" smtClean="0"/>
              <a:t>For location “SKU” </a:t>
            </a:r>
          </a:p>
          <a:p>
            <a:r>
              <a:rPr lang="en-US" altLang="zh-TW" i="1" dirty="0" smtClean="0"/>
              <a:t>The PN is the number of Rack SKU ().</a:t>
            </a:r>
          </a:p>
          <a:p>
            <a:r>
              <a:rPr lang="en-US" altLang="zh-TW" i="1" dirty="0" smtClean="0"/>
              <a:t>Keep the description is “empty” of the SKU</a:t>
            </a:r>
          </a:p>
        </p:txBody>
      </p:sp>
      <p:pic>
        <p:nvPicPr>
          <p:cNvPr id="4" name="圖片 3"/>
          <p:cNvPicPr>
            <a:picLocks noChangeAspect="1"/>
          </p:cNvPicPr>
          <p:nvPr/>
        </p:nvPicPr>
        <p:blipFill>
          <a:blip r:embed="rId2"/>
          <a:stretch>
            <a:fillRect/>
          </a:stretch>
        </p:blipFill>
        <p:spPr>
          <a:xfrm>
            <a:off x="229781" y="2048964"/>
            <a:ext cx="11850874" cy="3777070"/>
          </a:xfrm>
          <a:prstGeom prst="rect">
            <a:avLst/>
          </a:prstGeom>
        </p:spPr>
      </p:pic>
    </p:spTree>
    <p:extLst>
      <p:ext uri="{BB962C8B-B14F-4D97-AF65-F5344CB8AC3E}">
        <p14:creationId xmlns:p14="http://schemas.microsoft.com/office/powerpoint/2010/main" val="395105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a:solidFill>
                  <a:schemeClr val="tx1"/>
                </a:solidFill>
              </a:rPr>
              <a:t>2</a:t>
            </a:r>
            <a:r>
              <a:rPr lang="en-US" altLang="zh-TW" sz="2400" dirty="0" smtClean="0">
                <a:solidFill>
                  <a:schemeClr val="tx1"/>
                </a:solidFill>
              </a:rPr>
              <a:t>)Create/Check Test BOM</a:t>
            </a:r>
          </a:p>
        </p:txBody>
      </p:sp>
      <p:pic>
        <p:nvPicPr>
          <p:cNvPr id="2" name="圖片 1"/>
          <p:cNvPicPr>
            <a:picLocks noChangeAspect="1"/>
          </p:cNvPicPr>
          <p:nvPr/>
        </p:nvPicPr>
        <p:blipFill>
          <a:blip r:embed="rId2"/>
          <a:stretch>
            <a:fillRect/>
          </a:stretch>
        </p:blipFill>
        <p:spPr>
          <a:xfrm>
            <a:off x="512716" y="3398385"/>
            <a:ext cx="4191000" cy="2543175"/>
          </a:xfrm>
          <a:prstGeom prst="rect">
            <a:avLst/>
          </a:prstGeom>
        </p:spPr>
      </p:pic>
      <p:pic>
        <p:nvPicPr>
          <p:cNvPr id="4" name="圖片 3"/>
          <p:cNvPicPr>
            <a:picLocks noChangeAspect="1"/>
          </p:cNvPicPr>
          <p:nvPr/>
        </p:nvPicPr>
        <p:blipFill>
          <a:blip r:embed="rId3"/>
          <a:stretch>
            <a:fillRect/>
          </a:stretch>
        </p:blipFill>
        <p:spPr>
          <a:xfrm>
            <a:off x="4924697" y="2541112"/>
            <a:ext cx="6964952" cy="3400448"/>
          </a:xfrm>
          <a:prstGeom prst="rect">
            <a:avLst/>
          </a:prstGeom>
        </p:spPr>
      </p:pic>
      <p:sp>
        <p:nvSpPr>
          <p:cNvPr id="5" name="向下箭號 4"/>
          <p:cNvSpPr/>
          <p:nvPr/>
        </p:nvSpPr>
        <p:spPr>
          <a:xfrm rot="16200000">
            <a:off x="3808367" y="3994174"/>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302622" y="1184830"/>
            <a:ext cx="10874150" cy="1200329"/>
          </a:xfrm>
          <a:prstGeom prst="rect">
            <a:avLst/>
          </a:prstGeom>
        </p:spPr>
        <p:txBody>
          <a:bodyPr wrap="square">
            <a:spAutoFit/>
          </a:bodyPr>
          <a:lstStyle/>
          <a:p>
            <a:r>
              <a:rPr lang="en-US" altLang="zh-TW" i="1" dirty="0" smtClean="0"/>
              <a:t>When you choice the PN you would like to create, the BOM list would be a default list.</a:t>
            </a:r>
          </a:p>
          <a:p>
            <a:endParaRPr lang="en-US" altLang="zh-TW" i="1" dirty="0" smtClean="0"/>
          </a:p>
          <a:p>
            <a:r>
              <a:rPr lang="en-US" altLang="zh-TW" i="1" dirty="0" smtClean="0"/>
              <a:t>Choice </a:t>
            </a:r>
            <a:r>
              <a:rPr lang="en-US" altLang="zh-TW" i="1" dirty="0"/>
              <a:t>the </a:t>
            </a:r>
            <a:r>
              <a:rPr lang="en-US" altLang="zh-TW" i="1" dirty="0" smtClean="0"/>
              <a:t>CPN and revision </a:t>
            </a:r>
            <a:r>
              <a:rPr lang="en-US" altLang="zh-TW" i="1" dirty="0"/>
              <a:t>for all </a:t>
            </a:r>
            <a:r>
              <a:rPr lang="en-US" altLang="zh-TW" i="1" dirty="0" smtClean="0"/>
              <a:t>locations base on the CRD and cross table.</a:t>
            </a:r>
          </a:p>
          <a:p>
            <a:r>
              <a:rPr lang="en-US" altLang="zh-TW" i="1" dirty="0" smtClean="0"/>
              <a:t>Make sure all data are set correctly before you submit the data.</a:t>
            </a:r>
          </a:p>
        </p:txBody>
      </p:sp>
    </p:spTree>
    <p:extLst>
      <p:ext uri="{BB962C8B-B14F-4D97-AF65-F5344CB8AC3E}">
        <p14:creationId xmlns:p14="http://schemas.microsoft.com/office/powerpoint/2010/main" val="280795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stretch>
            <a:fillRect/>
          </a:stretch>
        </p:blipFill>
        <p:spPr>
          <a:xfrm>
            <a:off x="302621" y="2442116"/>
            <a:ext cx="6962775" cy="3400425"/>
          </a:xfrm>
          <a:prstGeom prst="rect">
            <a:avLst/>
          </a:prstGeom>
        </p:spPr>
      </p:pic>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a:solidFill>
                  <a:schemeClr val="tx1"/>
                </a:solidFill>
              </a:rPr>
              <a:t>2</a:t>
            </a:r>
            <a:r>
              <a:rPr lang="en-US" altLang="zh-TW" sz="2400" dirty="0" smtClean="0">
                <a:solidFill>
                  <a:schemeClr val="tx1"/>
                </a:solidFill>
              </a:rPr>
              <a:t>)Create/Check Test BOM</a:t>
            </a:r>
          </a:p>
        </p:txBody>
      </p:sp>
      <p:sp>
        <p:nvSpPr>
          <p:cNvPr id="6" name="矩形 5"/>
          <p:cNvSpPr/>
          <p:nvPr/>
        </p:nvSpPr>
        <p:spPr>
          <a:xfrm>
            <a:off x="302621" y="1184830"/>
            <a:ext cx="11754395" cy="1200329"/>
          </a:xfrm>
          <a:prstGeom prst="rect">
            <a:avLst/>
          </a:prstGeom>
        </p:spPr>
        <p:txBody>
          <a:bodyPr wrap="square">
            <a:spAutoFit/>
          </a:bodyPr>
          <a:lstStyle/>
          <a:p>
            <a:r>
              <a:rPr lang="en-US" altLang="zh-TW" i="1" dirty="0" smtClean="0"/>
              <a:t>If the primary PN </a:t>
            </a:r>
            <a:r>
              <a:rPr lang="en-US" altLang="zh-TW" i="1" dirty="0"/>
              <a:t>(</a:t>
            </a:r>
            <a:r>
              <a:rPr lang="en-US" altLang="zh-TW" i="1" dirty="0">
                <a:solidFill>
                  <a:srgbClr val="FF0000"/>
                </a:solidFill>
              </a:rPr>
              <a:t>Mxxxxxxx-001</a:t>
            </a:r>
            <a:r>
              <a:rPr lang="en-US" altLang="zh-TW" i="1" dirty="0"/>
              <a:t>) </a:t>
            </a:r>
            <a:r>
              <a:rPr lang="en-US" altLang="zh-TW" i="1" dirty="0" smtClean="0"/>
              <a:t>was created, and you just would like to create new sub-PN (</a:t>
            </a:r>
            <a:r>
              <a:rPr lang="en-US" altLang="zh-TW" i="1" dirty="0" smtClean="0">
                <a:solidFill>
                  <a:srgbClr val="FF0000"/>
                </a:solidFill>
              </a:rPr>
              <a:t>$</a:t>
            </a:r>
            <a:r>
              <a:rPr lang="en-US" altLang="zh-TW" i="1" dirty="0" err="1" smtClean="0">
                <a:solidFill>
                  <a:srgbClr val="FF0000"/>
                </a:solidFill>
              </a:rPr>
              <a:t>xxxx</a:t>
            </a:r>
            <a:r>
              <a:rPr lang="en-US" altLang="zh-TW" i="1" dirty="0" smtClean="0"/>
              <a:t>).</a:t>
            </a:r>
          </a:p>
          <a:p>
            <a:r>
              <a:rPr lang="en-US" altLang="zh-TW" i="1" dirty="0" smtClean="0"/>
              <a:t>Or you would like to create new PN based on a known PN.</a:t>
            </a:r>
          </a:p>
          <a:p>
            <a:endParaRPr lang="en-US" altLang="zh-TW" i="1" dirty="0" smtClean="0"/>
          </a:p>
          <a:p>
            <a:r>
              <a:rPr lang="en-US" altLang="zh-TW" i="1" dirty="0" smtClean="0"/>
              <a:t>Then you can choice the “Reference Part Number”, it will reload new configuration table based on known PN.</a:t>
            </a:r>
          </a:p>
        </p:txBody>
      </p:sp>
      <p:pic>
        <p:nvPicPr>
          <p:cNvPr id="7" name="圖片 6"/>
          <p:cNvPicPr>
            <a:picLocks noChangeAspect="1"/>
          </p:cNvPicPr>
          <p:nvPr/>
        </p:nvPicPr>
        <p:blipFill>
          <a:blip r:embed="rId3"/>
          <a:stretch>
            <a:fillRect/>
          </a:stretch>
        </p:blipFill>
        <p:spPr>
          <a:xfrm>
            <a:off x="5475087" y="4062549"/>
            <a:ext cx="6406670" cy="2526574"/>
          </a:xfrm>
          <a:prstGeom prst="rect">
            <a:avLst/>
          </a:prstGeom>
          <a:ln>
            <a:solidFill>
              <a:srgbClr val="010C10"/>
            </a:solidFill>
          </a:ln>
        </p:spPr>
      </p:pic>
      <p:sp>
        <p:nvSpPr>
          <p:cNvPr id="5" name="向下箭號 4"/>
          <p:cNvSpPr/>
          <p:nvPr/>
        </p:nvSpPr>
        <p:spPr>
          <a:xfrm rot="18453967">
            <a:off x="4718140" y="3994033"/>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0142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a:solidFill>
                  <a:schemeClr val="tx1"/>
                </a:solidFill>
              </a:rPr>
              <a:t>2</a:t>
            </a:r>
            <a:r>
              <a:rPr lang="en-US" altLang="zh-TW" sz="2400" dirty="0" smtClean="0">
                <a:solidFill>
                  <a:schemeClr val="tx1"/>
                </a:solidFill>
              </a:rPr>
              <a:t>)Create/Check Test BOM</a:t>
            </a:r>
          </a:p>
        </p:txBody>
      </p:sp>
      <p:sp>
        <p:nvSpPr>
          <p:cNvPr id="6" name="矩形 5"/>
          <p:cNvSpPr/>
          <p:nvPr/>
        </p:nvSpPr>
        <p:spPr>
          <a:xfrm>
            <a:off x="302621" y="1184830"/>
            <a:ext cx="11754395" cy="1477328"/>
          </a:xfrm>
          <a:prstGeom prst="rect">
            <a:avLst/>
          </a:prstGeom>
        </p:spPr>
        <p:txBody>
          <a:bodyPr wrap="square">
            <a:spAutoFit/>
          </a:bodyPr>
          <a:lstStyle/>
          <a:p>
            <a:r>
              <a:rPr lang="en-US" altLang="zh-TW" i="1" dirty="0" smtClean="0"/>
              <a:t>If everything is OK, then click Submit button and follow the instruction to enter some information for reviewing.</a:t>
            </a:r>
          </a:p>
          <a:p>
            <a:endParaRPr lang="en-US" altLang="zh-TW" i="1" dirty="0"/>
          </a:p>
          <a:p>
            <a:r>
              <a:rPr lang="en-US" altLang="zh-TW" i="1" dirty="0" smtClean="0"/>
              <a:t>1)The issuer’s name or Employee ID.</a:t>
            </a:r>
          </a:p>
          <a:p>
            <a:r>
              <a:rPr lang="en-US" altLang="zh-TW" i="1" dirty="0" smtClean="0"/>
              <a:t>2)Click yes, to submit data to WYHQ DB</a:t>
            </a:r>
          </a:p>
          <a:p>
            <a:r>
              <a:rPr lang="en-US" altLang="zh-TW" i="1" dirty="0" smtClean="0"/>
              <a:t>3)Make sure you see “Done“ message</a:t>
            </a:r>
          </a:p>
        </p:txBody>
      </p:sp>
      <p:pic>
        <p:nvPicPr>
          <p:cNvPr id="2" name="圖片 1"/>
          <p:cNvPicPr>
            <a:picLocks noChangeAspect="1"/>
          </p:cNvPicPr>
          <p:nvPr/>
        </p:nvPicPr>
        <p:blipFill>
          <a:blip r:embed="rId2"/>
          <a:stretch>
            <a:fillRect/>
          </a:stretch>
        </p:blipFill>
        <p:spPr>
          <a:xfrm>
            <a:off x="302621" y="3730669"/>
            <a:ext cx="4313908" cy="1194028"/>
          </a:xfrm>
          <a:prstGeom prst="rect">
            <a:avLst/>
          </a:prstGeom>
        </p:spPr>
      </p:pic>
      <p:pic>
        <p:nvPicPr>
          <p:cNvPr id="4" name="圖片 3"/>
          <p:cNvPicPr>
            <a:picLocks noChangeAspect="1"/>
          </p:cNvPicPr>
          <p:nvPr/>
        </p:nvPicPr>
        <p:blipFill>
          <a:blip r:embed="rId3"/>
          <a:stretch>
            <a:fillRect/>
          </a:stretch>
        </p:blipFill>
        <p:spPr>
          <a:xfrm>
            <a:off x="5473166" y="3122770"/>
            <a:ext cx="2971800" cy="2409825"/>
          </a:xfrm>
          <a:prstGeom prst="rect">
            <a:avLst/>
          </a:prstGeom>
        </p:spPr>
      </p:pic>
      <p:pic>
        <p:nvPicPr>
          <p:cNvPr id="9" name="圖片 8"/>
          <p:cNvPicPr>
            <a:picLocks noChangeAspect="1"/>
          </p:cNvPicPr>
          <p:nvPr/>
        </p:nvPicPr>
        <p:blipFill>
          <a:blip r:embed="rId4"/>
          <a:stretch>
            <a:fillRect/>
          </a:stretch>
        </p:blipFill>
        <p:spPr>
          <a:xfrm>
            <a:off x="9301604" y="3413827"/>
            <a:ext cx="1771650" cy="1409700"/>
          </a:xfrm>
          <a:prstGeom prst="rect">
            <a:avLst/>
          </a:prstGeom>
        </p:spPr>
      </p:pic>
      <p:sp>
        <p:nvSpPr>
          <p:cNvPr id="10" name="向下箭號 9"/>
          <p:cNvSpPr/>
          <p:nvPr/>
        </p:nvSpPr>
        <p:spPr>
          <a:xfrm rot="16200000">
            <a:off x="4161778" y="3969882"/>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向下箭號 10"/>
          <p:cNvSpPr/>
          <p:nvPr/>
        </p:nvSpPr>
        <p:spPr>
          <a:xfrm rot="16200000">
            <a:off x="7956129" y="3760878"/>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5224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3)Create/Check Device </a:t>
            </a:r>
            <a:r>
              <a:rPr lang="en-US" altLang="zh-TW" sz="2400" dirty="0" err="1" smtClean="0">
                <a:solidFill>
                  <a:schemeClr val="tx1"/>
                </a:solidFill>
              </a:rPr>
              <a:t>Cfg</a:t>
            </a:r>
            <a:endParaRPr lang="en-US" altLang="zh-TW" sz="2400" dirty="0" smtClean="0">
              <a:solidFill>
                <a:schemeClr val="tx1"/>
              </a:solidFill>
            </a:endParaRPr>
          </a:p>
        </p:txBody>
      </p:sp>
      <p:sp>
        <p:nvSpPr>
          <p:cNvPr id="4" name="矩形 3"/>
          <p:cNvSpPr/>
          <p:nvPr/>
        </p:nvSpPr>
        <p:spPr>
          <a:xfrm>
            <a:off x="534580" y="1127873"/>
            <a:ext cx="5709466" cy="369332"/>
          </a:xfrm>
          <a:prstGeom prst="rect">
            <a:avLst/>
          </a:prstGeom>
        </p:spPr>
        <p:txBody>
          <a:bodyPr wrap="square">
            <a:spAutoFit/>
          </a:bodyPr>
          <a:lstStyle/>
          <a:p>
            <a:r>
              <a:rPr lang="en-US" altLang="zh-TW" i="1" dirty="0" smtClean="0">
                <a:solidFill>
                  <a:srgbClr val="FF0000"/>
                </a:solidFill>
              </a:rPr>
              <a:t>For now, this is created by WYHQ not local TE for far.</a:t>
            </a:r>
          </a:p>
        </p:txBody>
      </p:sp>
    </p:spTree>
    <p:extLst>
      <p:ext uri="{BB962C8B-B14F-4D97-AF65-F5344CB8AC3E}">
        <p14:creationId xmlns:p14="http://schemas.microsoft.com/office/powerpoint/2010/main" val="1790258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421086" y="2756263"/>
            <a:ext cx="1828800" cy="1015663"/>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6000" dirty="0" smtClean="0">
                <a:solidFill>
                  <a:schemeClr val="tx1"/>
                </a:solidFill>
              </a:rPr>
              <a:t>End</a:t>
            </a:r>
            <a:endParaRPr lang="zh-TW" altLang="en-US" sz="6000" dirty="0">
              <a:solidFill>
                <a:schemeClr val="tx1"/>
              </a:solidFill>
            </a:endParaRPr>
          </a:p>
        </p:txBody>
      </p:sp>
    </p:spTree>
    <p:extLst>
      <p:ext uri="{BB962C8B-B14F-4D97-AF65-F5344CB8AC3E}">
        <p14:creationId xmlns:p14="http://schemas.microsoft.com/office/powerpoint/2010/main" val="183583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a:xfrm>
            <a:off x="4362994" y="2233748"/>
            <a:ext cx="7537269" cy="2662645"/>
          </a:xfrm>
        </p:spPr>
        <p:txBody>
          <a:bodyPr anchor="ctr"/>
          <a:lstStyle/>
          <a:p>
            <a:r>
              <a:rPr lang="en-US" altLang="zh-TW" sz="4400" dirty="0" smtClean="0">
                <a:solidFill>
                  <a:srgbClr val="0070C0"/>
                </a:solidFill>
              </a:rPr>
              <a:t>MONICA TEST PROGRAM COLLECT WCS CONFIGURATION</a:t>
            </a:r>
            <a:br>
              <a:rPr lang="en-US" altLang="zh-TW" sz="4400" dirty="0" smtClean="0">
                <a:solidFill>
                  <a:srgbClr val="0070C0"/>
                </a:solidFill>
              </a:rPr>
            </a:br>
            <a:r>
              <a:rPr lang="en-US" altLang="zh-TW" sz="4400" dirty="0" smtClean="0">
                <a:solidFill>
                  <a:srgbClr val="0070C0"/>
                </a:solidFill>
              </a:rPr>
              <a:t>FILE</a:t>
            </a:r>
            <a:endParaRPr lang="zh-TW" altLang="en-US" sz="4400" dirty="0">
              <a:solidFill>
                <a:srgbClr val="0070C0"/>
              </a:solidFill>
            </a:endParaRPr>
          </a:p>
        </p:txBody>
      </p:sp>
    </p:spTree>
    <p:extLst>
      <p:ext uri="{BB962C8B-B14F-4D97-AF65-F5344CB8AC3E}">
        <p14:creationId xmlns:p14="http://schemas.microsoft.com/office/powerpoint/2010/main" val="2871094796"/>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76942" y="574768"/>
            <a:ext cx="10448109" cy="193899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After BOM data approved by TE Supervisor or WYHQ MTE.</a:t>
            </a:r>
          </a:p>
          <a:p>
            <a:r>
              <a:rPr lang="en-US" altLang="zh-TW" sz="2400" dirty="0" smtClean="0">
                <a:solidFill>
                  <a:schemeClr val="tx1"/>
                </a:solidFill>
              </a:rPr>
              <a:t>The databased will be synced within every 10min to WW sites.</a:t>
            </a:r>
          </a:p>
          <a:p>
            <a:endParaRPr lang="en-US" altLang="zh-TW" sz="2400" dirty="0">
              <a:solidFill>
                <a:schemeClr val="tx1"/>
              </a:solidFill>
            </a:endParaRPr>
          </a:p>
          <a:p>
            <a:r>
              <a:rPr lang="en-US" altLang="zh-TW" sz="2400" dirty="0" smtClean="0">
                <a:solidFill>
                  <a:schemeClr val="tx1"/>
                </a:solidFill>
              </a:rPr>
              <a:t>Once data synced, you can run the test, then you need to collect WCS configuration file when 5</a:t>
            </a:r>
            <a:r>
              <a:rPr lang="en-US" altLang="zh-TW" sz="2400" dirty="0" smtClean="0">
                <a:solidFill>
                  <a:srgbClr val="FF0000"/>
                </a:solidFill>
              </a:rPr>
              <a:t>x</a:t>
            </a:r>
            <a:r>
              <a:rPr lang="en-US" altLang="zh-TW" sz="2400" dirty="0" smtClean="0">
                <a:solidFill>
                  <a:schemeClr val="tx1"/>
                </a:solidFill>
              </a:rPr>
              <a:t>% (test </a:t>
            </a:r>
            <a:r>
              <a:rPr lang="en-US" altLang="zh-TW" sz="2400" dirty="0" err="1" smtClean="0">
                <a:solidFill>
                  <a:schemeClr val="tx1"/>
                </a:solidFill>
              </a:rPr>
              <a:t>wcs</a:t>
            </a:r>
            <a:r>
              <a:rPr lang="en-US" altLang="zh-TW" sz="2400" dirty="0" smtClean="0">
                <a:solidFill>
                  <a:schemeClr val="tx1"/>
                </a:solidFill>
              </a:rPr>
              <a:t> </a:t>
            </a:r>
            <a:r>
              <a:rPr lang="en-US" altLang="zh-TW" sz="2400" dirty="0" err="1" smtClean="0">
                <a:solidFill>
                  <a:schemeClr val="tx1"/>
                </a:solidFill>
              </a:rPr>
              <a:t>cfg</a:t>
            </a:r>
            <a:r>
              <a:rPr lang="en-US" altLang="zh-TW" sz="2400" dirty="0" smtClean="0">
                <a:solidFill>
                  <a:schemeClr val="tx1"/>
                </a:solidFill>
              </a:rPr>
              <a:t>) and 9</a:t>
            </a:r>
            <a:r>
              <a:rPr lang="en-US" altLang="zh-TW" sz="2400" dirty="0" smtClean="0">
                <a:solidFill>
                  <a:srgbClr val="FF0000"/>
                </a:solidFill>
              </a:rPr>
              <a:t>x</a:t>
            </a:r>
            <a:r>
              <a:rPr lang="en-US" altLang="zh-TW" sz="2400" dirty="0" smtClean="0">
                <a:solidFill>
                  <a:schemeClr val="tx1"/>
                </a:solidFill>
              </a:rPr>
              <a:t>% (ship </a:t>
            </a:r>
            <a:r>
              <a:rPr lang="en-US" altLang="zh-TW" sz="2400" dirty="0" err="1" smtClean="0">
                <a:solidFill>
                  <a:schemeClr val="tx1"/>
                </a:solidFill>
              </a:rPr>
              <a:t>wcs</a:t>
            </a:r>
            <a:r>
              <a:rPr lang="en-US" altLang="zh-TW" sz="2400" dirty="0" smtClean="0">
                <a:solidFill>
                  <a:schemeClr val="tx1"/>
                </a:solidFill>
              </a:rPr>
              <a:t> </a:t>
            </a:r>
            <a:r>
              <a:rPr lang="en-US" altLang="zh-TW" sz="2400" dirty="0" err="1" smtClean="0">
                <a:solidFill>
                  <a:schemeClr val="tx1"/>
                </a:solidFill>
              </a:rPr>
              <a:t>cfg</a:t>
            </a:r>
            <a:r>
              <a:rPr lang="en-US" altLang="zh-TW" sz="2400" dirty="0" smtClean="0">
                <a:solidFill>
                  <a:schemeClr val="tx1"/>
                </a:solidFill>
              </a:rPr>
              <a:t>).</a:t>
            </a:r>
          </a:p>
        </p:txBody>
      </p:sp>
    </p:spTree>
    <p:extLst>
      <p:ext uri="{BB962C8B-B14F-4D97-AF65-F5344CB8AC3E}">
        <p14:creationId xmlns:p14="http://schemas.microsoft.com/office/powerpoint/2010/main" val="65101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19142" y="560692"/>
            <a:ext cx="10440150" cy="304698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Pick up one good node which failed at 5</a:t>
            </a:r>
            <a:r>
              <a:rPr lang="en-US" altLang="zh-TW" sz="2400" dirty="0" smtClean="0">
                <a:solidFill>
                  <a:srgbClr val="FF0000"/>
                </a:solidFill>
              </a:rPr>
              <a:t>x</a:t>
            </a:r>
            <a:r>
              <a:rPr lang="en-US" altLang="zh-TW" sz="2400" dirty="0" smtClean="0">
                <a:solidFill>
                  <a:schemeClr val="tx1"/>
                </a:solidFill>
              </a:rPr>
              <a:t>% “RUN WCS TEST TOOL”</a:t>
            </a:r>
          </a:p>
          <a:p>
            <a:r>
              <a:rPr lang="en-US" altLang="zh-TW" sz="2400" dirty="0" smtClean="0">
                <a:solidFill>
                  <a:schemeClr val="tx1"/>
                </a:solidFill>
              </a:rPr>
              <a:t>Then login to blade.</a:t>
            </a:r>
          </a:p>
          <a:p>
            <a:endParaRPr lang="en-US" altLang="zh-TW" sz="2400" dirty="0">
              <a:solidFill>
                <a:schemeClr val="tx1"/>
              </a:solidFill>
            </a:endParaRPr>
          </a:p>
          <a:p>
            <a:r>
              <a:rPr lang="en-US" altLang="zh-TW" sz="2400" dirty="0" smtClean="0">
                <a:solidFill>
                  <a:schemeClr val="tx1"/>
                </a:solidFill>
              </a:rPr>
              <a:t>1)Make sure the error message is “</a:t>
            </a:r>
            <a:r>
              <a:rPr lang="en-US" altLang="zh-TW" sz="2400" dirty="0" smtClean="0">
                <a:solidFill>
                  <a:srgbClr val="FF0000"/>
                </a:solidFill>
              </a:rPr>
              <a:t>Missing Configuration</a:t>
            </a:r>
            <a:r>
              <a:rPr lang="en-US" altLang="zh-TW" sz="2400" dirty="0" smtClean="0">
                <a:solidFill>
                  <a:schemeClr val="tx1"/>
                </a:solidFill>
              </a:rPr>
              <a:t>”</a:t>
            </a:r>
          </a:p>
          <a:p>
            <a:r>
              <a:rPr lang="en-US" altLang="zh-TW" sz="2400" dirty="0" smtClean="0">
                <a:solidFill>
                  <a:schemeClr val="tx1"/>
                </a:solidFill>
              </a:rPr>
              <a:t>2)Open </a:t>
            </a:r>
            <a:r>
              <a:rPr lang="en-US" altLang="zh-TW" sz="2400" dirty="0">
                <a:solidFill>
                  <a:schemeClr val="tx1"/>
                </a:solidFill>
              </a:rPr>
              <a:t>command prompt then goes to </a:t>
            </a:r>
            <a:r>
              <a:rPr lang="en-US" altLang="zh-TW" sz="2400" dirty="0">
                <a:solidFill>
                  <a:srgbClr val="FF0000"/>
                </a:solidFill>
              </a:rPr>
              <a:t>driver Z</a:t>
            </a:r>
            <a:r>
              <a:rPr lang="en-US" altLang="zh-TW" sz="2400" dirty="0" smtClean="0">
                <a:solidFill>
                  <a:srgbClr val="FF0000"/>
                </a:solidFill>
              </a:rPr>
              <a:t>:\</a:t>
            </a:r>
          </a:p>
          <a:p>
            <a:r>
              <a:rPr lang="en-US" altLang="zh-TW" sz="2400" dirty="0">
                <a:solidFill>
                  <a:schemeClr val="tx1"/>
                </a:solidFill>
              </a:rPr>
              <a:t>execute “</a:t>
            </a:r>
            <a:r>
              <a:rPr lang="en-US" altLang="zh-TW" sz="2400" dirty="0">
                <a:solidFill>
                  <a:srgbClr val="FF0000"/>
                </a:solidFill>
              </a:rPr>
              <a:t>ThGenSysCfg.bat</a:t>
            </a:r>
            <a:r>
              <a:rPr lang="en-US" altLang="zh-TW" sz="2400" dirty="0" smtClean="0">
                <a:solidFill>
                  <a:schemeClr val="tx1"/>
                </a:solidFill>
              </a:rPr>
              <a:t>”</a:t>
            </a:r>
          </a:p>
          <a:p>
            <a:r>
              <a:rPr lang="en-US" altLang="zh-TW" sz="2400" dirty="0" smtClean="0">
                <a:solidFill>
                  <a:schemeClr val="tx1"/>
                </a:solidFill>
              </a:rPr>
              <a:t>3)Go to Z:\Config\ then delete </a:t>
            </a:r>
            <a:r>
              <a:rPr lang="en-US" altLang="zh-TW" sz="2400" dirty="0">
                <a:solidFill>
                  <a:schemeClr val="tx1"/>
                </a:solidFill>
              </a:rPr>
              <a:t>“</a:t>
            </a:r>
            <a:r>
              <a:rPr lang="en-US" altLang="zh-TW" sz="2400" dirty="0">
                <a:solidFill>
                  <a:srgbClr val="FF0000"/>
                </a:solidFill>
              </a:rPr>
              <a:t>%PN</a:t>
            </a:r>
            <a:r>
              <a:rPr lang="en-US" altLang="zh-TW" sz="2400" dirty="0" smtClean="0">
                <a:solidFill>
                  <a:srgbClr val="FF0000"/>
                </a:solidFill>
              </a:rPr>
              <a:t>%.config.log/xml</a:t>
            </a:r>
            <a:r>
              <a:rPr lang="en-US" altLang="zh-TW" sz="2400" dirty="0" smtClean="0">
                <a:solidFill>
                  <a:schemeClr val="tx1"/>
                </a:solidFill>
              </a:rPr>
              <a:t>”</a:t>
            </a:r>
          </a:p>
          <a:p>
            <a:r>
              <a:rPr lang="en-US" altLang="zh-TW" sz="2400" dirty="0" smtClean="0">
                <a:solidFill>
                  <a:schemeClr val="tx1"/>
                </a:solidFill>
              </a:rPr>
              <a:t>4)Copy </a:t>
            </a:r>
            <a:r>
              <a:rPr lang="en-US" altLang="zh-TW" sz="2400" dirty="0">
                <a:solidFill>
                  <a:schemeClr val="tx1"/>
                </a:solidFill>
              </a:rPr>
              <a:t>“</a:t>
            </a:r>
            <a:r>
              <a:rPr lang="en-US" altLang="zh-TW" sz="2400" dirty="0">
                <a:solidFill>
                  <a:srgbClr val="FF0000"/>
                </a:solidFill>
              </a:rPr>
              <a:t>%PN%-</a:t>
            </a:r>
            <a:r>
              <a:rPr lang="en-US" altLang="zh-TW" sz="2400" dirty="0" smtClean="0">
                <a:solidFill>
                  <a:srgbClr val="FF0000"/>
                </a:solidFill>
              </a:rPr>
              <a:t>test.config.log/xml</a:t>
            </a:r>
            <a:r>
              <a:rPr lang="en-US" altLang="zh-TW" sz="2400" dirty="0" smtClean="0">
                <a:solidFill>
                  <a:schemeClr val="tx1"/>
                </a:solidFill>
              </a:rPr>
              <a:t>” to local</a:t>
            </a:r>
            <a:endParaRPr lang="en-US" altLang="zh-TW" sz="2400" dirty="0">
              <a:solidFill>
                <a:schemeClr val="tx1"/>
              </a:solidFill>
            </a:endParaRPr>
          </a:p>
        </p:txBody>
      </p:sp>
      <p:pic>
        <p:nvPicPr>
          <p:cNvPr id="4" name="圖片 3"/>
          <p:cNvPicPr>
            <a:picLocks noChangeAspect="1"/>
          </p:cNvPicPr>
          <p:nvPr/>
        </p:nvPicPr>
        <p:blipFill>
          <a:blip r:embed="rId2"/>
          <a:stretch>
            <a:fillRect/>
          </a:stretch>
        </p:blipFill>
        <p:spPr>
          <a:xfrm>
            <a:off x="8736057" y="1141231"/>
            <a:ext cx="3286125" cy="1362075"/>
          </a:xfrm>
          <a:prstGeom prst="rect">
            <a:avLst/>
          </a:prstGeom>
        </p:spPr>
      </p:pic>
      <p:sp>
        <p:nvSpPr>
          <p:cNvPr id="5" name="向下箭號 4"/>
          <p:cNvSpPr/>
          <p:nvPr/>
        </p:nvSpPr>
        <p:spPr>
          <a:xfrm>
            <a:off x="9425530" y="2503799"/>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p:cNvPicPr>
            <a:picLocks noChangeAspect="1"/>
          </p:cNvPicPr>
          <p:nvPr/>
        </p:nvPicPr>
        <p:blipFill>
          <a:blip r:embed="rId3"/>
          <a:stretch>
            <a:fillRect/>
          </a:stretch>
        </p:blipFill>
        <p:spPr>
          <a:xfrm>
            <a:off x="7554957" y="3219398"/>
            <a:ext cx="4467225" cy="1000125"/>
          </a:xfrm>
          <a:prstGeom prst="rect">
            <a:avLst/>
          </a:prstGeom>
        </p:spPr>
      </p:pic>
      <p:pic>
        <p:nvPicPr>
          <p:cNvPr id="9" name="圖片 8"/>
          <p:cNvPicPr>
            <a:picLocks noChangeAspect="1"/>
          </p:cNvPicPr>
          <p:nvPr/>
        </p:nvPicPr>
        <p:blipFill>
          <a:blip r:embed="rId4"/>
          <a:stretch>
            <a:fillRect/>
          </a:stretch>
        </p:blipFill>
        <p:spPr>
          <a:xfrm>
            <a:off x="5800996" y="4353762"/>
            <a:ext cx="6086475" cy="2028825"/>
          </a:xfrm>
          <a:prstGeom prst="rect">
            <a:avLst/>
          </a:prstGeom>
        </p:spPr>
      </p:pic>
      <p:sp>
        <p:nvSpPr>
          <p:cNvPr id="10" name="向下箭號 9"/>
          <p:cNvSpPr/>
          <p:nvPr/>
        </p:nvSpPr>
        <p:spPr>
          <a:xfrm>
            <a:off x="9980293" y="3995962"/>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p:cNvPicPr>
            <a:picLocks noChangeAspect="1"/>
          </p:cNvPicPr>
          <p:nvPr/>
        </p:nvPicPr>
        <p:blipFill>
          <a:blip r:embed="rId5"/>
          <a:stretch>
            <a:fillRect/>
          </a:stretch>
        </p:blipFill>
        <p:spPr>
          <a:xfrm>
            <a:off x="435428" y="4386947"/>
            <a:ext cx="4656292" cy="1804847"/>
          </a:xfrm>
          <a:prstGeom prst="rect">
            <a:avLst/>
          </a:prstGeom>
        </p:spPr>
      </p:pic>
      <p:sp>
        <p:nvSpPr>
          <p:cNvPr id="13" name="向下箭號 12"/>
          <p:cNvSpPr/>
          <p:nvPr/>
        </p:nvSpPr>
        <p:spPr>
          <a:xfrm rot="5400000">
            <a:off x="4489607" y="4931571"/>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1688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76942" y="574768"/>
            <a:ext cx="10448109" cy="304698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Pick up one good node which failed at 9</a:t>
            </a:r>
            <a:r>
              <a:rPr lang="en-US" altLang="zh-TW" sz="2400" dirty="0" smtClean="0">
                <a:solidFill>
                  <a:srgbClr val="FF0000"/>
                </a:solidFill>
              </a:rPr>
              <a:t>x</a:t>
            </a:r>
            <a:r>
              <a:rPr lang="en-US" altLang="zh-TW" sz="2400" dirty="0" smtClean="0">
                <a:solidFill>
                  <a:schemeClr val="tx1"/>
                </a:solidFill>
              </a:rPr>
              <a:t>% “RUN WCS TEST TOOL”</a:t>
            </a:r>
          </a:p>
          <a:p>
            <a:r>
              <a:rPr lang="en-US" altLang="zh-TW" sz="2400" dirty="0" smtClean="0">
                <a:solidFill>
                  <a:schemeClr val="tx1"/>
                </a:solidFill>
              </a:rPr>
              <a:t>Then login to blade.</a:t>
            </a:r>
          </a:p>
          <a:p>
            <a:endParaRPr lang="en-US" altLang="zh-TW" sz="2400" dirty="0">
              <a:solidFill>
                <a:schemeClr val="tx1"/>
              </a:solidFill>
            </a:endParaRPr>
          </a:p>
          <a:p>
            <a:r>
              <a:rPr lang="en-US" altLang="zh-TW" sz="2400" dirty="0" smtClean="0">
                <a:solidFill>
                  <a:schemeClr val="tx1"/>
                </a:solidFill>
              </a:rPr>
              <a:t>1)Make sure the error message is “</a:t>
            </a:r>
            <a:r>
              <a:rPr lang="en-US" altLang="zh-TW" sz="2400" dirty="0" smtClean="0">
                <a:solidFill>
                  <a:srgbClr val="FF0000"/>
                </a:solidFill>
              </a:rPr>
              <a:t>Missing Configuration</a:t>
            </a:r>
            <a:r>
              <a:rPr lang="en-US" altLang="zh-TW" sz="2400" dirty="0" smtClean="0">
                <a:solidFill>
                  <a:schemeClr val="tx1"/>
                </a:solidFill>
              </a:rPr>
              <a:t>”</a:t>
            </a:r>
          </a:p>
          <a:p>
            <a:r>
              <a:rPr lang="en-US" altLang="zh-TW" sz="2400" dirty="0" smtClean="0">
                <a:solidFill>
                  <a:schemeClr val="tx1"/>
                </a:solidFill>
              </a:rPr>
              <a:t>2)Open </a:t>
            </a:r>
            <a:r>
              <a:rPr lang="en-US" altLang="zh-TW" sz="2400" dirty="0">
                <a:solidFill>
                  <a:schemeClr val="tx1"/>
                </a:solidFill>
              </a:rPr>
              <a:t>command prompt then goes to </a:t>
            </a:r>
            <a:r>
              <a:rPr lang="en-US" altLang="zh-TW" sz="2400" dirty="0">
                <a:solidFill>
                  <a:srgbClr val="FF0000"/>
                </a:solidFill>
              </a:rPr>
              <a:t>driver Z</a:t>
            </a:r>
            <a:r>
              <a:rPr lang="en-US" altLang="zh-TW" sz="2400" dirty="0" smtClean="0">
                <a:solidFill>
                  <a:srgbClr val="FF0000"/>
                </a:solidFill>
              </a:rPr>
              <a:t>:\</a:t>
            </a:r>
          </a:p>
          <a:p>
            <a:r>
              <a:rPr lang="en-US" altLang="zh-TW" sz="2400" dirty="0">
                <a:solidFill>
                  <a:schemeClr val="tx1"/>
                </a:solidFill>
              </a:rPr>
              <a:t>execute “</a:t>
            </a:r>
            <a:r>
              <a:rPr lang="en-US" altLang="zh-TW" sz="2400" dirty="0">
                <a:solidFill>
                  <a:srgbClr val="FF0000"/>
                </a:solidFill>
              </a:rPr>
              <a:t>ThGenSysCfg.bat</a:t>
            </a:r>
            <a:r>
              <a:rPr lang="en-US" altLang="zh-TW" sz="2400" dirty="0" smtClean="0">
                <a:solidFill>
                  <a:schemeClr val="tx1"/>
                </a:solidFill>
              </a:rPr>
              <a:t>”</a:t>
            </a:r>
          </a:p>
          <a:p>
            <a:r>
              <a:rPr lang="en-US" altLang="zh-TW" sz="2400" dirty="0" smtClean="0">
                <a:solidFill>
                  <a:schemeClr val="tx1"/>
                </a:solidFill>
              </a:rPr>
              <a:t>3)Go to Z:\Config\ get the files</a:t>
            </a:r>
          </a:p>
          <a:p>
            <a:r>
              <a:rPr lang="en-US" altLang="zh-TW" sz="2400" dirty="0" smtClean="0">
                <a:solidFill>
                  <a:srgbClr val="FF0000"/>
                </a:solidFill>
              </a:rPr>
              <a:t>“%PN%.config.log</a:t>
            </a:r>
            <a:r>
              <a:rPr lang="en-US" altLang="zh-TW" sz="2400" dirty="0" smtClean="0">
                <a:solidFill>
                  <a:schemeClr val="tx1"/>
                </a:solidFill>
              </a:rPr>
              <a:t>” and </a:t>
            </a:r>
            <a:r>
              <a:rPr lang="en-US" altLang="zh-TW" sz="2400" dirty="0">
                <a:solidFill>
                  <a:schemeClr val="tx1"/>
                </a:solidFill>
              </a:rPr>
              <a:t>“</a:t>
            </a:r>
            <a:r>
              <a:rPr lang="en-US" altLang="zh-TW" sz="2400" dirty="0">
                <a:solidFill>
                  <a:srgbClr val="FF0000"/>
                </a:solidFill>
              </a:rPr>
              <a:t>%PN</a:t>
            </a:r>
            <a:r>
              <a:rPr lang="en-US" altLang="zh-TW" sz="2400" dirty="0" smtClean="0">
                <a:solidFill>
                  <a:srgbClr val="FF0000"/>
                </a:solidFill>
              </a:rPr>
              <a:t>%.config.xml</a:t>
            </a:r>
            <a:r>
              <a:rPr lang="en-US" altLang="zh-TW" sz="2400" dirty="0" smtClean="0">
                <a:solidFill>
                  <a:schemeClr val="tx1"/>
                </a:solidFill>
              </a:rPr>
              <a:t>”</a:t>
            </a:r>
            <a:endParaRPr lang="en-US" altLang="zh-TW" sz="2400" dirty="0">
              <a:solidFill>
                <a:schemeClr val="tx1"/>
              </a:solidFill>
            </a:endParaRPr>
          </a:p>
        </p:txBody>
      </p:sp>
      <p:pic>
        <p:nvPicPr>
          <p:cNvPr id="4" name="圖片 3"/>
          <p:cNvPicPr>
            <a:picLocks noChangeAspect="1"/>
          </p:cNvPicPr>
          <p:nvPr/>
        </p:nvPicPr>
        <p:blipFill>
          <a:blip r:embed="rId2"/>
          <a:stretch>
            <a:fillRect/>
          </a:stretch>
        </p:blipFill>
        <p:spPr>
          <a:xfrm>
            <a:off x="8736057" y="1141231"/>
            <a:ext cx="3286125" cy="1362075"/>
          </a:xfrm>
          <a:prstGeom prst="rect">
            <a:avLst/>
          </a:prstGeom>
        </p:spPr>
      </p:pic>
      <p:sp>
        <p:nvSpPr>
          <p:cNvPr id="5" name="向下箭號 4"/>
          <p:cNvSpPr/>
          <p:nvPr/>
        </p:nvSpPr>
        <p:spPr>
          <a:xfrm>
            <a:off x="9425530" y="2503799"/>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p:cNvPicPr>
            <a:picLocks noChangeAspect="1"/>
          </p:cNvPicPr>
          <p:nvPr/>
        </p:nvPicPr>
        <p:blipFill>
          <a:blip r:embed="rId3"/>
          <a:stretch>
            <a:fillRect/>
          </a:stretch>
        </p:blipFill>
        <p:spPr>
          <a:xfrm>
            <a:off x="7554957" y="3219398"/>
            <a:ext cx="4467225" cy="1000125"/>
          </a:xfrm>
          <a:prstGeom prst="rect">
            <a:avLst/>
          </a:prstGeom>
        </p:spPr>
      </p:pic>
      <p:sp>
        <p:nvSpPr>
          <p:cNvPr id="10" name="向下箭號 9"/>
          <p:cNvSpPr/>
          <p:nvPr/>
        </p:nvSpPr>
        <p:spPr>
          <a:xfrm>
            <a:off x="9980293" y="3995962"/>
            <a:ext cx="1907178"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 name="圖片 1"/>
          <p:cNvPicPr>
            <a:picLocks noChangeAspect="1"/>
          </p:cNvPicPr>
          <p:nvPr/>
        </p:nvPicPr>
        <p:blipFill>
          <a:blip r:embed="rId4"/>
          <a:stretch>
            <a:fillRect/>
          </a:stretch>
        </p:blipFill>
        <p:spPr>
          <a:xfrm>
            <a:off x="6010546" y="4710474"/>
            <a:ext cx="5876925" cy="1409700"/>
          </a:xfrm>
          <a:prstGeom prst="rect">
            <a:avLst/>
          </a:prstGeom>
        </p:spPr>
      </p:pic>
    </p:spTree>
    <p:extLst>
      <p:ext uri="{BB962C8B-B14F-4D97-AF65-F5344CB8AC3E}">
        <p14:creationId xmlns:p14="http://schemas.microsoft.com/office/powerpoint/2010/main" val="2957337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24537" y="864937"/>
            <a:ext cx="6881644" cy="193899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000" i="1" dirty="0" smtClean="0">
                <a:solidFill>
                  <a:srgbClr val="FF0000"/>
                </a:solidFill>
              </a:rPr>
              <a:t>Copy latest WCS </a:t>
            </a:r>
            <a:r>
              <a:rPr lang="en-US" altLang="zh-TW" sz="2000" i="1" dirty="0" err="1" smtClean="0">
                <a:solidFill>
                  <a:srgbClr val="FF0000"/>
                </a:solidFill>
              </a:rPr>
              <a:t>config</a:t>
            </a:r>
            <a:r>
              <a:rPr lang="en-US" altLang="zh-TW" sz="2000" i="1" dirty="0" smtClean="0">
                <a:solidFill>
                  <a:srgbClr val="FF0000"/>
                </a:solidFill>
              </a:rPr>
              <a:t>. files to FS</a:t>
            </a:r>
            <a:endParaRPr lang="en-US" altLang="zh-TW" sz="2000" i="1" dirty="0">
              <a:solidFill>
                <a:srgbClr val="FF0000"/>
              </a:solidFill>
            </a:endParaRPr>
          </a:p>
          <a:p>
            <a:r>
              <a:rPr lang="en-US" altLang="zh-TW" sz="2000" dirty="0" smtClean="0">
                <a:solidFill>
                  <a:schemeClr val="tx1"/>
                </a:solidFill>
              </a:rPr>
              <a:t>1)Login to DDNS with </a:t>
            </a:r>
            <a:r>
              <a:rPr lang="en-US" altLang="zh-TW" sz="2000" dirty="0" smtClean="0">
                <a:solidFill>
                  <a:srgbClr val="FF0000"/>
                </a:solidFill>
              </a:rPr>
              <a:t>Administrator</a:t>
            </a:r>
            <a:r>
              <a:rPr lang="en-US" altLang="zh-TW" sz="2000" dirty="0" smtClean="0">
                <a:solidFill>
                  <a:schemeClr val="tx1"/>
                </a:solidFill>
              </a:rPr>
              <a:t> account.</a:t>
            </a:r>
          </a:p>
          <a:p>
            <a:r>
              <a:rPr lang="en-US" altLang="zh-TW" sz="2000" dirty="0" smtClean="0">
                <a:solidFill>
                  <a:schemeClr val="tx1"/>
                </a:solidFill>
              </a:rPr>
              <a:t>2)Go to </a:t>
            </a:r>
            <a:r>
              <a:rPr lang="en-US" altLang="zh-TW" sz="2000" dirty="0">
                <a:solidFill>
                  <a:schemeClr val="tx1"/>
                </a:solidFill>
              </a:rPr>
              <a:t>driver </a:t>
            </a:r>
            <a:r>
              <a:rPr lang="en-US" altLang="zh-TW" sz="2000" dirty="0">
                <a:solidFill>
                  <a:srgbClr val="FF0000"/>
                </a:solidFill>
              </a:rPr>
              <a:t>Y</a:t>
            </a:r>
            <a:r>
              <a:rPr lang="en-US" altLang="zh-TW" sz="2000" dirty="0" smtClean="0">
                <a:solidFill>
                  <a:srgbClr val="FF0000"/>
                </a:solidFill>
              </a:rPr>
              <a:t>:\XXXXXX_BomBase_L10,</a:t>
            </a:r>
          </a:p>
          <a:p>
            <a:r>
              <a:rPr lang="en-US" altLang="zh-TW" sz="2000" dirty="0">
                <a:solidFill>
                  <a:srgbClr val="FF0000"/>
                </a:solidFill>
              </a:rPr>
              <a:t> </a:t>
            </a:r>
            <a:r>
              <a:rPr lang="en-US" altLang="zh-TW" sz="2000" dirty="0" smtClean="0">
                <a:solidFill>
                  <a:srgbClr val="FF0000"/>
                </a:solidFill>
              </a:rPr>
              <a:t>  the model you would like to update.</a:t>
            </a:r>
          </a:p>
          <a:p>
            <a:r>
              <a:rPr lang="en-US" altLang="zh-TW" sz="2000" dirty="0">
                <a:solidFill>
                  <a:schemeClr val="tx1"/>
                </a:solidFill>
              </a:rPr>
              <a:t>3)Copy the </a:t>
            </a:r>
            <a:r>
              <a:rPr lang="en-US" altLang="zh-TW" sz="2000" dirty="0" smtClean="0">
                <a:solidFill>
                  <a:srgbClr val="FF0000"/>
                </a:solidFill>
              </a:rPr>
              <a:t>new WCS configuration file to “</a:t>
            </a:r>
            <a:r>
              <a:rPr lang="en-US" altLang="zh-TW" sz="2000" dirty="0" err="1" smtClean="0">
                <a:solidFill>
                  <a:srgbClr val="FF0000"/>
                </a:solidFill>
              </a:rPr>
              <a:t>Config</a:t>
            </a:r>
            <a:r>
              <a:rPr lang="en-US" altLang="zh-TW" sz="2000" dirty="0" smtClean="0">
                <a:solidFill>
                  <a:srgbClr val="FF0000"/>
                </a:solidFill>
              </a:rPr>
              <a:t>” folder</a:t>
            </a:r>
            <a:endParaRPr lang="en-US" altLang="zh-TW" sz="2000" dirty="0" smtClean="0">
              <a:solidFill>
                <a:schemeClr val="tx1"/>
              </a:solidFill>
            </a:endParaRPr>
          </a:p>
          <a:p>
            <a:r>
              <a:rPr lang="en-US" altLang="zh-TW" sz="2000" dirty="0" smtClean="0">
                <a:solidFill>
                  <a:srgbClr val="FF0000"/>
                </a:solidFill>
              </a:rPr>
              <a:t>9)After test verified, upload WCS </a:t>
            </a:r>
            <a:r>
              <a:rPr lang="en-US" altLang="zh-TW" sz="2000" dirty="0" err="1" smtClean="0">
                <a:solidFill>
                  <a:srgbClr val="FF0000"/>
                </a:solidFill>
              </a:rPr>
              <a:t>cfg</a:t>
            </a:r>
            <a:r>
              <a:rPr lang="en-US" altLang="zh-TW" sz="2000" dirty="0" smtClean="0">
                <a:solidFill>
                  <a:srgbClr val="FF0000"/>
                </a:solidFill>
              </a:rPr>
              <a:t> to WYHQ FTP</a:t>
            </a:r>
          </a:p>
        </p:txBody>
      </p:sp>
      <p:pic>
        <p:nvPicPr>
          <p:cNvPr id="2" name="圖片 1"/>
          <p:cNvPicPr>
            <a:picLocks noChangeAspect="1"/>
          </p:cNvPicPr>
          <p:nvPr/>
        </p:nvPicPr>
        <p:blipFill>
          <a:blip r:embed="rId2"/>
          <a:stretch>
            <a:fillRect/>
          </a:stretch>
        </p:blipFill>
        <p:spPr>
          <a:xfrm>
            <a:off x="238397" y="3179853"/>
            <a:ext cx="6019800" cy="2562225"/>
          </a:xfrm>
          <a:prstGeom prst="rect">
            <a:avLst/>
          </a:prstGeom>
        </p:spPr>
      </p:pic>
    </p:spTree>
    <p:extLst>
      <p:ext uri="{BB962C8B-B14F-4D97-AF65-F5344CB8AC3E}">
        <p14:creationId xmlns:p14="http://schemas.microsoft.com/office/powerpoint/2010/main" val="235551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37308" y="587831"/>
            <a:ext cx="10448109" cy="4893647"/>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Upload WCS </a:t>
            </a:r>
            <a:r>
              <a:rPr lang="en-US" altLang="zh-TW" sz="2400" dirty="0" err="1" smtClean="0">
                <a:solidFill>
                  <a:schemeClr val="tx1"/>
                </a:solidFill>
              </a:rPr>
              <a:t>config</a:t>
            </a:r>
            <a:r>
              <a:rPr lang="en-US" altLang="zh-TW" sz="2400" dirty="0" smtClean="0">
                <a:solidFill>
                  <a:schemeClr val="tx1"/>
                </a:solidFill>
              </a:rPr>
              <a:t> files to WYHQ FTP</a:t>
            </a:r>
            <a:endParaRPr lang="en-US" altLang="zh-TW" sz="2400" dirty="0">
              <a:solidFill>
                <a:schemeClr val="tx1"/>
              </a:solidFill>
            </a:endParaRPr>
          </a:p>
          <a:p>
            <a:endParaRPr lang="en-US" altLang="zh-TW" sz="2400" dirty="0" smtClean="0">
              <a:solidFill>
                <a:schemeClr val="tx1"/>
              </a:solidFill>
            </a:endParaRPr>
          </a:p>
          <a:p>
            <a:r>
              <a:rPr lang="en-US" altLang="zh-TW" sz="2400" dirty="0">
                <a:solidFill>
                  <a:schemeClr val="tx1"/>
                </a:solidFill>
              </a:rPr>
              <a:t>FTP: </a:t>
            </a:r>
            <a:r>
              <a:rPr lang="en-US" altLang="zh-TW" sz="2400" dirty="0" smtClean="0">
                <a:solidFill>
                  <a:schemeClr val="tx1"/>
                </a:solidFill>
              </a:rPr>
              <a:t>wyhqo54000453-1.wistron.com.tw</a:t>
            </a:r>
          </a:p>
          <a:p>
            <a:r>
              <a:rPr lang="en-US" altLang="zh-TW" sz="2400" dirty="0" smtClean="0">
                <a:solidFill>
                  <a:schemeClr val="tx1"/>
                </a:solidFill>
              </a:rPr>
              <a:t>Account: </a:t>
            </a:r>
            <a:r>
              <a:rPr lang="en-US" altLang="zh-TW" sz="2400" dirty="0" err="1" smtClean="0">
                <a:solidFill>
                  <a:schemeClr val="tx1"/>
                </a:solidFill>
              </a:rPr>
              <a:t>te</a:t>
            </a:r>
            <a:endParaRPr lang="en-US" altLang="zh-TW" sz="2400" dirty="0" smtClean="0">
              <a:solidFill>
                <a:schemeClr val="tx1"/>
              </a:solidFill>
            </a:endParaRPr>
          </a:p>
          <a:p>
            <a:r>
              <a:rPr lang="en-US" altLang="zh-TW" sz="2400" dirty="0" smtClean="0">
                <a:solidFill>
                  <a:schemeClr val="tx1"/>
                </a:solidFill>
              </a:rPr>
              <a:t>Password: p@ssw0rd</a:t>
            </a:r>
          </a:p>
          <a:p>
            <a:endParaRPr lang="en-US" altLang="zh-TW" sz="2400" dirty="0">
              <a:solidFill>
                <a:schemeClr val="tx1"/>
              </a:solidFill>
            </a:endParaRPr>
          </a:p>
          <a:p>
            <a:r>
              <a:rPr lang="en-US" altLang="zh-TW" sz="2400" dirty="0" smtClean="0">
                <a:solidFill>
                  <a:schemeClr val="tx1"/>
                </a:solidFill>
              </a:rPr>
              <a:t>For L10 new WCS </a:t>
            </a:r>
            <a:r>
              <a:rPr lang="en-US" altLang="zh-TW" sz="2400" dirty="0" err="1" smtClean="0">
                <a:solidFill>
                  <a:schemeClr val="tx1"/>
                </a:solidFill>
              </a:rPr>
              <a:t>cfg</a:t>
            </a:r>
            <a:r>
              <a:rPr lang="en-US" altLang="zh-TW" sz="2400" dirty="0" smtClean="0">
                <a:solidFill>
                  <a:schemeClr val="tx1"/>
                </a:solidFill>
              </a:rPr>
              <a:t> file, upload here,</a:t>
            </a:r>
          </a:p>
          <a:p>
            <a:r>
              <a:rPr lang="en-US" altLang="zh-TW" sz="2400" dirty="0">
                <a:solidFill>
                  <a:srgbClr val="FF0000"/>
                </a:solidFill>
              </a:rPr>
              <a:t>/</a:t>
            </a:r>
            <a:r>
              <a:rPr lang="en-US" altLang="zh-TW" sz="2400" dirty="0" smtClean="0">
                <a:solidFill>
                  <a:srgbClr val="FF0000"/>
                </a:solidFill>
              </a:rPr>
              <a:t>01_TestProgram/Cxxxx-L10</a:t>
            </a:r>
            <a:r>
              <a:rPr lang="en-US" altLang="zh-TW" sz="2400" dirty="0">
                <a:solidFill>
                  <a:srgbClr val="FF0000"/>
                </a:solidFill>
              </a:rPr>
              <a:t>/@</a:t>
            </a:r>
            <a:r>
              <a:rPr lang="en-US" altLang="zh-TW" sz="2400" dirty="0" smtClean="0">
                <a:solidFill>
                  <a:srgbClr val="FF0000"/>
                </a:solidFill>
              </a:rPr>
              <a:t>New/</a:t>
            </a:r>
            <a:r>
              <a:rPr lang="en-US" altLang="zh-TW" sz="2400" dirty="0" err="1" smtClean="0">
                <a:solidFill>
                  <a:srgbClr val="FF0000"/>
                </a:solidFill>
              </a:rPr>
              <a:t>Config</a:t>
            </a:r>
            <a:r>
              <a:rPr lang="en-US" altLang="zh-TW" sz="2400" dirty="0" smtClean="0">
                <a:solidFill>
                  <a:srgbClr val="FF0000"/>
                </a:solidFill>
              </a:rPr>
              <a:t>/</a:t>
            </a:r>
          </a:p>
          <a:p>
            <a:endParaRPr lang="en-US" altLang="zh-TW" sz="2400" dirty="0" smtClean="0">
              <a:solidFill>
                <a:srgbClr val="FF0000"/>
              </a:solidFill>
            </a:endParaRPr>
          </a:p>
          <a:p>
            <a:r>
              <a:rPr lang="en-US" altLang="zh-TW" sz="2400" dirty="0">
                <a:solidFill>
                  <a:schemeClr val="tx1"/>
                </a:solidFill>
              </a:rPr>
              <a:t>For </a:t>
            </a:r>
            <a:r>
              <a:rPr lang="en-US" altLang="zh-TW" sz="2400" dirty="0" smtClean="0">
                <a:solidFill>
                  <a:schemeClr val="tx1"/>
                </a:solidFill>
              </a:rPr>
              <a:t>L11 </a:t>
            </a:r>
            <a:r>
              <a:rPr lang="en-US" altLang="zh-TW" sz="2400" dirty="0">
                <a:solidFill>
                  <a:schemeClr val="tx1"/>
                </a:solidFill>
              </a:rPr>
              <a:t>new </a:t>
            </a:r>
            <a:r>
              <a:rPr lang="en-US" altLang="zh-TW" sz="2400" dirty="0" err="1" smtClean="0">
                <a:solidFill>
                  <a:schemeClr val="tx1"/>
                </a:solidFill>
              </a:rPr>
              <a:t>cfg</a:t>
            </a:r>
            <a:r>
              <a:rPr lang="en-US" altLang="zh-TW" sz="2400" dirty="0" smtClean="0">
                <a:solidFill>
                  <a:schemeClr val="tx1"/>
                </a:solidFill>
              </a:rPr>
              <a:t> </a:t>
            </a:r>
            <a:r>
              <a:rPr lang="en-US" altLang="zh-TW" sz="2400" dirty="0">
                <a:solidFill>
                  <a:schemeClr val="tx1"/>
                </a:solidFill>
              </a:rPr>
              <a:t>file, upload here</a:t>
            </a:r>
            <a:r>
              <a:rPr lang="en-US" altLang="zh-TW" sz="2400" dirty="0" smtClean="0">
                <a:solidFill>
                  <a:schemeClr val="tx1"/>
                </a:solidFill>
              </a:rPr>
              <a:t>,</a:t>
            </a:r>
            <a:endParaRPr lang="en-US" altLang="zh-TW" sz="2400" dirty="0">
              <a:solidFill>
                <a:srgbClr val="FF0000"/>
              </a:solidFill>
            </a:endParaRPr>
          </a:p>
          <a:p>
            <a:r>
              <a:rPr lang="en-US" altLang="zh-TW" sz="2400" dirty="0">
                <a:solidFill>
                  <a:srgbClr val="FF0000"/>
                </a:solidFill>
              </a:rPr>
              <a:t>/</a:t>
            </a:r>
            <a:r>
              <a:rPr lang="en-US" altLang="zh-TW" sz="2400" dirty="0" smtClean="0">
                <a:solidFill>
                  <a:srgbClr val="FF0000"/>
                </a:solidFill>
              </a:rPr>
              <a:t>01_TestProgram/Cxxxx-L11-PoT</a:t>
            </a:r>
            <a:r>
              <a:rPr lang="en-US" altLang="zh-TW" sz="2400" dirty="0">
                <a:solidFill>
                  <a:srgbClr val="FF0000"/>
                </a:solidFill>
              </a:rPr>
              <a:t>/@</a:t>
            </a:r>
            <a:r>
              <a:rPr lang="en-US" altLang="zh-TW" sz="2400" dirty="0" smtClean="0">
                <a:solidFill>
                  <a:srgbClr val="FF0000"/>
                </a:solidFill>
              </a:rPr>
              <a:t>New/</a:t>
            </a:r>
            <a:r>
              <a:rPr lang="en-US" altLang="zh-TW" sz="2400" dirty="0" err="1" smtClean="0">
                <a:solidFill>
                  <a:srgbClr val="FF0000"/>
                </a:solidFill>
              </a:rPr>
              <a:t>Config</a:t>
            </a:r>
            <a:r>
              <a:rPr lang="en-US" altLang="zh-TW" sz="2400" dirty="0" smtClean="0">
                <a:solidFill>
                  <a:srgbClr val="FF0000"/>
                </a:solidFill>
              </a:rPr>
              <a:t>/</a:t>
            </a:r>
          </a:p>
          <a:p>
            <a:endParaRPr lang="en-US" altLang="zh-TW" sz="2400" dirty="0">
              <a:solidFill>
                <a:srgbClr val="FF0000"/>
              </a:solidFill>
            </a:endParaRPr>
          </a:p>
          <a:p>
            <a:r>
              <a:rPr lang="en-US" altLang="zh-TW" sz="2400" i="1" dirty="0" smtClean="0">
                <a:solidFill>
                  <a:srgbClr val="0070C0"/>
                </a:solidFill>
              </a:rPr>
              <a:t>Test program will be updated on Monday of every week</a:t>
            </a:r>
          </a:p>
        </p:txBody>
      </p:sp>
    </p:spTree>
    <p:extLst>
      <p:ext uri="{BB962C8B-B14F-4D97-AF65-F5344CB8AC3E}">
        <p14:creationId xmlns:p14="http://schemas.microsoft.com/office/powerpoint/2010/main" val="391679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237308" y="587831"/>
            <a:ext cx="6849429" cy="5632311"/>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Download new BOM base test program</a:t>
            </a:r>
            <a:endParaRPr lang="en-US" altLang="zh-TW" sz="2400" dirty="0">
              <a:solidFill>
                <a:schemeClr val="tx1"/>
              </a:solidFill>
            </a:endParaRPr>
          </a:p>
          <a:p>
            <a:endParaRPr lang="en-US" altLang="zh-TW" sz="2400" dirty="0" smtClean="0">
              <a:solidFill>
                <a:schemeClr val="tx1"/>
              </a:solidFill>
            </a:endParaRPr>
          </a:p>
          <a:p>
            <a:r>
              <a:rPr lang="en-US" altLang="zh-TW" sz="2400" dirty="0">
                <a:solidFill>
                  <a:schemeClr val="tx1"/>
                </a:solidFill>
              </a:rPr>
              <a:t>FTP: </a:t>
            </a:r>
            <a:r>
              <a:rPr lang="en-US" altLang="zh-TW" sz="2400" dirty="0" smtClean="0">
                <a:solidFill>
                  <a:schemeClr val="tx1"/>
                </a:solidFill>
              </a:rPr>
              <a:t>wyhqo54000453-1.wistron.com.tw</a:t>
            </a:r>
          </a:p>
          <a:p>
            <a:r>
              <a:rPr lang="en-US" altLang="zh-TW" sz="2400" dirty="0" smtClean="0">
                <a:solidFill>
                  <a:schemeClr val="tx1"/>
                </a:solidFill>
              </a:rPr>
              <a:t>Account: </a:t>
            </a:r>
            <a:r>
              <a:rPr lang="en-US" altLang="zh-TW" sz="2400" dirty="0" err="1" smtClean="0">
                <a:solidFill>
                  <a:schemeClr val="tx1"/>
                </a:solidFill>
              </a:rPr>
              <a:t>te</a:t>
            </a:r>
            <a:endParaRPr lang="en-US" altLang="zh-TW" sz="2400" dirty="0" smtClean="0">
              <a:solidFill>
                <a:schemeClr val="tx1"/>
              </a:solidFill>
            </a:endParaRPr>
          </a:p>
          <a:p>
            <a:r>
              <a:rPr lang="en-US" altLang="zh-TW" sz="2400" dirty="0" smtClean="0">
                <a:solidFill>
                  <a:schemeClr val="tx1"/>
                </a:solidFill>
              </a:rPr>
              <a:t>Password: p@ssw0rd</a:t>
            </a:r>
          </a:p>
          <a:p>
            <a:endParaRPr lang="en-US" altLang="zh-TW" sz="2400" dirty="0" smtClean="0">
              <a:solidFill>
                <a:srgbClr val="FF0000"/>
              </a:solidFill>
            </a:endParaRPr>
          </a:p>
          <a:p>
            <a:r>
              <a:rPr lang="en-US" altLang="zh-TW" sz="2400" dirty="0" smtClean="0">
                <a:solidFill>
                  <a:schemeClr val="tx1"/>
                </a:solidFill>
              </a:rPr>
              <a:t>Find the latest version and download to local</a:t>
            </a:r>
          </a:p>
          <a:p>
            <a:r>
              <a:rPr lang="en-US" altLang="zh-TW" sz="2400" dirty="0" smtClean="0">
                <a:solidFill>
                  <a:schemeClr val="tx1"/>
                </a:solidFill>
              </a:rPr>
              <a:t>The copy updated file </a:t>
            </a:r>
          </a:p>
          <a:p>
            <a:r>
              <a:rPr lang="en-US" altLang="zh-TW" sz="2400" dirty="0" smtClean="0">
                <a:solidFill>
                  <a:schemeClr val="tx1"/>
                </a:solidFill>
              </a:rPr>
              <a:t>You don’t have to download all the files, download the file with latest modification then upload to DDNS. </a:t>
            </a:r>
            <a:endParaRPr lang="en-US" altLang="zh-TW" sz="2400" dirty="0">
              <a:solidFill>
                <a:schemeClr val="tx1"/>
              </a:solidFill>
            </a:endParaRPr>
          </a:p>
          <a:p>
            <a:r>
              <a:rPr lang="en-US" altLang="zh-TW" sz="2400" dirty="0" smtClean="0">
                <a:solidFill>
                  <a:srgbClr val="FF0000"/>
                </a:solidFill>
              </a:rPr>
              <a:t>Always copy the file to Y:\ then move to the correct folder.</a:t>
            </a:r>
          </a:p>
          <a:p>
            <a:r>
              <a:rPr lang="en-US" altLang="zh-TW" sz="2400" i="1" dirty="0" smtClean="0">
                <a:solidFill>
                  <a:srgbClr val="0070C0"/>
                </a:solidFill>
              </a:rPr>
              <a:t>Test program will be updated on Monday of every week</a:t>
            </a:r>
          </a:p>
        </p:txBody>
      </p:sp>
      <p:pic>
        <p:nvPicPr>
          <p:cNvPr id="2" name="圖片 1"/>
          <p:cNvPicPr>
            <a:picLocks noChangeAspect="1"/>
          </p:cNvPicPr>
          <p:nvPr/>
        </p:nvPicPr>
        <p:blipFill>
          <a:blip r:embed="rId2"/>
          <a:stretch>
            <a:fillRect/>
          </a:stretch>
        </p:blipFill>
        <p:spPr>
          <a:xfrm>
            <a:off x="7310471" y="703240"/>
            <a:ext cx="3038475" cy="2857500"/>
          </a:xfrm>
          <a:prstGeom prst="rect">
            <a:avLst/>
          </a:prstGeom>
        </p:spPr>
      </p:pic>
      <p:pic>
        <p:nvPicPr>
          <p:cNvPr id="4" name="圖片 3"/>
          <p:cNvPicPr>
            <a:picLocks noChangeAspect="1"/>
          </p:cNvPicPr>
          <p:nvPr/>
        </p:nvPicPr>
        <p:blipFill>
          <a:blip r:embed="rId3"/>
          <a:stretch>
            <a:fillRect/>
          </a:stretch>
        </p:blipFill>
        <p:spPr>
          <a:xfrm>
            <a:off x="7162119" y="4004151"/>
            <a:ext cx="4791075" cy="2647950"/>
          </a:xfrm>
          <a:prstGeom prst="rect">
            <a:avLst/>
          </a:prstGeom>
        </p:spPr>
      </p:pic>
      <p:sp>
        <p:nvSpPr>
          <p:cNvPr id="5" name="向下箭號 4"/>
          <p:cNvSpPr/>
          <p:nvPr/>
        </p:nvSpPr>
        <p:spPr>
          <a:xfrm>
            <a:off x="8990100" y="3403986"/>
            <a:ext cx="1135112"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9407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421086" y="2756263"/>
            <a:ext cx="1828800" cy="1015663"/>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6000" dirty="0" smtClean="0">
                <a:solidFill>
                  <a:schemeClr val="tx1"/>
                </a:solidFill>
              </a:rPr>
              <a:t>End</a:t>
            </a:r>
            <a:endParaRPr lang="zh-TW" altLang="en-US" sz="6000" dirty="0">
              <a:solidFill>
                <a:schemeClr val="tx1"/>
              </a:solidFill>
            </a:endParaRPr>
          </a:p>
        </p:txBody>
      </p:sp>
    </p:spTree>
    <p:extLst>
      <p:ext uri="{BB962C8B-B14F-4D97-AF65-F5344CB8AC3E}">
        <p14:creationId xmlns:p14="http://schemas.microsoft.com/office/powerpoint/2010/main" val="9302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a:xfrm>
            <a:off x="4362994" y="2233748"/>
            <a:ext cx="7537269" cy="2662645"/>
          </a:xfrm>
        </p:spPr>
        <p:txBody>
          <a:bodyPr anchor="ctr"/>
          <a:lstStyle/>
          <a:p>
            <a:r>
              <a:rPr lang="en-US" altLang="zh-TW" sz="4400" dirty="0" smtClean="0">
                <a:solidFill>
                  <a:srgbClr val="0070C0"/>
                </a:solidFill>
              </a:rPr>
              <a:t>MONICA TEST PROGRAM APPROVE BOM DATA</a:t>
            </a:r>
            <a:endParaRPr lang="zh-TW" altLang="en-US" sz="4400" dirty="0">
              <a:solidFill>
                <a:srgbClr val="0070C0"/>
              </a:solidFill>
            </a:endParaRPr>
          </a:p>
        </p:txBody>
      </p:sp>
    </p:spTree>
    <p:extLst>
      <p:ext uri="{BB962C8B-B14F-4D97-AF65-F5344CB8AC3E}">
        <p14:creationId xmlns:p14="http://schemas.microsoft.com/office/powerpoint/2010/main" val="803699787"/>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2"/>
          <p:cNvSpPr>
            <a:spLocks noGrp="1"/>
          </p:cNvSpPr>
          <p:nvPr>
            <p:ph type="body" sz="quarter" idx="15"/>
          </p:nvPr>
        </p:nvSpPr>
        <p:spPr>
          <a:xfrm>
            <a:off x="838200" y="365124"/>
            <a:ext cx="11049000" cy="1110979"/>
          </a:xfrm>
        </p:spPr>
        <p:txBody>
          <a:bodyPr/>
          <a:lstStyle/>
          <a:p>
            <a:r>
              <a:rPr lang="en-US" altLang="zh-TW" dirty="0" smtClean="0"/>
              <a:t>How to </a:t>
            </a:r>
            <a:r>
              <a:rPr lang="en-US" altLang="zh-TW" dirty="0" smtClean="0">
                <a:solidFill>
                  <a:srgbClr val="FF0000"/>
                </a:solidFill>
              </a:rPr>
              <a:t>approve</a:t>
            </a:r>
            <a:r>
              <a:rPr lang="en-US" altLang="zh-TW" dirty="0" smtClean="0"/>
              <a:t> test BOM data for MONICA BOM base test program</a:t>
            </a:r>
            <a:endParaRPr lang="zh-TW" altLang="en-US" dirty="0"/>
          </a:p>
        </p:txBody>
      </p:sp>
      <p:sp>
        <p:nvSpPr>
          <p:cNvPr id="3" name="文字方塊 2"/>
          <p:cNvSpPr txBox="1"/>
          <p:nvPr/>
        </p:nvSpPr>
        <p:spPr>
          <a:xfrm>
            <a:off x="576942" y="1645922"/>
            <a:ext cx="5445035" cy="1200329"/>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What you need before checking</a:t>
            </a:r>
          </a:p>
          <a:p>
            <a:r>
              <a:rPr lang="en-US" altLang="zh-TW" sz="2400" dirty="0" smtClean="0">
                <a:solidFill>
                  <a:schemeClr val="tx1"/>
                </a:solidFill>
              </a:rPr>
              <a:t>1)CRD Document</a:t>
            </a:r>
          </a:p>
          <a:p>
            <a:r>
              <a:rPr lang="en-US" altLang="zh-TW" sz="2400" dirty="0" smtClean="0">
                <a:solidFill>
                  <a:schemeClr val="tx1"/>
                </a:solidFill>
              </a:rPr>
              <a:t>2)OA access to WYHQ DB</a:t>
            </a:r>
          </a:p>
        </p:txBody>
      </p:sp>
    </p:spTree>
    <p:extLst>
      <p:ext uri="{BB962C8B-B14F-4D97-AF65-F5344CB8AC3E}">
        <p14:creationId xmlns:p14="http://schemas.microsoft.com/office/powerpoint/2010/main" val="214246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字方塊 13"/>
          <p:cNvSpPr txBox="1"/>
          <p:nvPr/>
        </p:nvSpPr>
        <p:spPr>
          <a:xfrm>
            <a:off x="1944053" y="826781"/>
            <a:ext cx="8671561" cy="830997"/>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1)Execute </a:t>
            </a:r>
            <a:r>
              <a:rPr lang="en-US" altLang="zh-TW" sz="2400" dirty="0">
                <a:solidFill>
                  <a:schemeClr val="tx1"/>
                </a:solidFill>
              </a:rPr>
              <a:t>“</a:t>
            </a:r>
            <a:r>
              <a:rPr lang="en-US" altLang="zh-TW" sz="2400" dirty="0" err="1">
                <a:solidFill>
                  <a:schemeClr val="tx1"/>
                </a:solidFill>
              </a:rPr>
              <a:t>MonicaTPApprover</a:t>
            </a:r>
            <a:r>
              <a:rPr lang="en-US" altLang="zh-TW" sz="2400" dirty="0">
                <a:solidFill>
                  <a:schemeClr val="tx1"/>
                </a:solidFill>
              </a:rPr>
              <a:t>” </a:t>
            </a:r>
            <a:r>
              <a:rPr lang="en-US" altLang="zh-TW" sz="2400" dirty="0" smtClean="0">
                <a:solidFill>
                  <a:schemeClr val="tx1"/>
                </a:solidFill>
              </a:rPr>
              <a:t>on your OA computer, </a:t>
            </a:r>
          </a:p>
          <a:p>
            <a:r>
              <a:rPr lang="en-US" altLang="zh-TW" sz="2400" dirty="0" smtClean="0">
                <a:solidFill>
                  <a:schemeClr val="tx1"/>
                </a:solidFill>
              </a:rPr>
              <a:t>you must in OA environment.</a:t>
            </a:r>
          </a:p>
        </p:txBody>
      </p:sp>
      <p:sp>
        <p:nvSpPr>
          <p:cNvPr id="16" name="文字方塊 15"/>
          <p:cNvSpPr txBox="1"/>
          <p:nvPr/>
        </p:nvSpPr>
        <p:spPr>
          <a:xfrm>
            <a:off x="3575347" y="2955112"/>
            <a:ext cx="6063344"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2)Set Target SQL Server to “WYHQ”</a:t>
            </a:r>
          </a:p>
        </p:txBody>
      </p:sp>
      <p:pic>
        <p:nvPicPr>
          <p:cNvPr id="3" name="圖片 2"/>
          <p:cNvPicPr>
            <a:picLocks noChangeAspect="1"/>
          </p:cNvPicPr>
          <p:nvPr/>
        </p:nvPicPr>
        <p:blipFill>
          <a:blip r:embed="rId2"/>
          <a:stretch>
            <a:fillRect/>
          </a:stretch>
        </p:blipFill>
        <p:spPr>
          <a:xfrm>
            <a:off x="212748" y="683528"/>
            <a:ext cx="1749727" cy="1334977"/>
          </a:xfrm>
          <a:prstGeom prst="rect">
            <a:avLst/>
          </a:prstGeom>
        </p:spPr>
      </p:pic>
      <p:pic>
        <p:nvPicPr>
          <p:cNvPr id="4" name="圖片 3"/>
          <p:cNvPicPr>
            <a:picLocks noChangeAspect="1"/>
          </p:cNvPicPr>
          <p:nvPr/>
        </p:nvPicPr>
        <p:blipFill>
          <a:blip r:embed="rId3"/>
          <a:stretch>
            <a:fillRect/>
          </a:stretch>
        </p:blipFill>
        <p:spPr>
          <a:xfrm>
            <a:off x="212748" y="2379233"/>
            <a:ext cx="3215248" cy="2075089"/>
          </a:xfrm>
          <a:prstGeom prst="rect">
            <a:avLst/>
          </a:prstGeom>
        </p:spPr>
      </p:pic>
      <p:sp>
        <p:nvSpPr>
          <p:cNvPr id="9" name="文字方塊 8"/>
          <p:cNvSpPr txBox="1"/>
          <p:nvPr/>
        </p:nvSpPr>
        <p:spPr>
          <a:xfrm>
            <a:off x="4876663" y="5129294"/>
            <a:ext cx="6840720"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3)Select the PN you would like to approve/reject</a:t>
            </a:r>
          </a:p>
        </p:txBody>
      </p:sp>
      <p:pic>
        <p:nvPicPr>
          <p:cNvPr id="6" name="圖片 5"/>
          <p:cNvPicPr>
            <a:picLocks noChangeAspect="1"/>
          </p:cNvPicPr>
          <p:nvPr/>
        </p:nvPicPr>
        <p:blipFill>
          <a:blip r:embed="rId4"/>
          <a:stretch>
            <a:fillRect/>
          </a:stretch>
        </p:blipFill>
        <p:spPr>
          <a:xfrm>
            <a:off x="104638" y="4671797"/>
            <a:ext cx="4772025" cy="1838325"/>
          </a:xfrm>
          <a:prstGeom prst="rect">
            <a:avLst/>
          </a:prstGeom>
        </p:spPr>
      </p:pic>
    </p:spTree>
    <p:extLst>
      <p:ext uri="{BB962C8B-B14F-4D97-AF65-F5344CB8AC3E}">
        <p14:creationId xmlns:p14="http://schemas.microsoft.com/office/powerpoint/2010/main" val="138636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2)Approve/Reject Test BOM</a:t>
            </a:r>
          </a:p>
        </p:txBody>
      </p:sp>
      <p:pic>
        <p:nvPicPr>
          <p:cNvPr id="5" name="圖片 4"/>
          <p:cNvPicPr>
            <a:picLocks noChangeAspect="1"/>
          </p:cNvPicPr>
          <p:nvPr/>
        </p:nvPicPr>
        <p:blipFill>
          <a:blip r:embed="rId2"/>
          <a:stretch>
            <a:fillRect/>
          </a:stretch>
        </p:blipFill>
        <p:spPr>
          <a:xfrm>
            <a:off x="4575191" y="1127873"/>
            <a:ext cx="7616809" cy="5103110"/>
          </a:xfrm>
          <a:prstGeom prst="rect">
            <a:avLst/>
          </a:prstGeom>
        </p:spPr>
      </p:pic>
      <p:sp>
        <p:nvSpPr>
          <p:cNvPr id="12" name="文字方塊 11"/>
          <p:cNvSpPr txBox="1"/>
          <p:nvPr/>
        </p:nvSpPr>
        <p:spPr>
          <a:xfrm>
            <a:off x="229780" y="1306286"/>
            <a:ext cx="3963397" cy="2862322"/>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dirty="0" smtClean="0">
                <a:solidFill>
                  <a:schemeClr val="tx1"/>
                </a:solidFill>
              </a:rPr>
              <a:t>Make sure if all settings match/follow the CRD/Cross table and SKU document.</a:t>
            </a:r>
          </a:p>
          <a:p>
            <a:endParaRPr lang="en-US" altLang="zh-TW" dirty="0">
              <a:solidFill>
                <a:schemeClr val="tx1"/>
              </a:solidFill>
            </a:endParaRPr>
          </a:p>
          <a:p>
            <a:endParaRPr lang="en-US" altLang="zh-TW" dirty="0" smtClean="0">
              <a:solidFill>
                <a:schemeClr val="tx1"/>
              </a:solidFill>
            </a:endParaRPr>
          </a:p>
          <a:p>
            <a:r>
              <a:rPr lang="en-US" altLang="zh-TW" dirty="0" smtClean="0">
                <a:solidFill>
                  <a:srgbClr val="00B050"/>
                </a:solidFill>
              </a:rPr>
              <a:t>Then Click Approve if there is no problem.</a:t>
            </a:r>
          </a:p>
          <a:p>
            <a:endParaRPr lang="en-US" altLang="zh-TW" dirty="0">
              <a:solidFill>
                <a:schemeClr val="tx1"/>
              </a:solidFill>
            </a:endParaRPr>
          </a:p>
          <a:p>
            <a:r>
              <a:rPr lang="en-US" altLang="zh-TW" dirty="0" smtClean="0">
                <a:solidFill>
                  <a:srgbClr val="FF0000"/>
                </a:solidFill>
              </a:rPr>
              <a:t>If not, Click Reject to drop the settings</a:t>
            </a:r>
          </a:p>
        </p:txBody>
      </p:sp>
    </p:spTree>
    <p:extLst>
      <p:ext uri="{BB962C8B-B14F-4D97-AF65-F5344CB8AC3E}">
        <p14:creationId xmlns:p14="http://schemas.microsoft.com/office/powerpoint/2010/main" val="263180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stretch>
            <a:fillRect/>
          </a:stretch>
        </p:blipFill>
        <p:spPr>
          <a:xfrm>
            <a:off x="7481345" y="4037763"/>
            <a:ext cx="3200400" cy="885825"/>
          </a:xfrm>
          <a:prstGeom prst="rect">
            <a:avLst/>
          </a:prstGeom>
        </p:spPr>
      </p:pic>
      <p:pic>
        <p:nvPicPr>
          <p:cNvPr id="12" name="圖片 11"/>
          <p:cNvPicPr>
            <a:picLocks noChangeAspect="1"/>
          </p:cNvPicPr>
          <p:nvPr/>
        </p:nvPicPr>
        <p:blipFill>
          <a:blip r:embed="rId3"/>
          <a:stretch>
            <a:fillRect/>
          </a:stretch>
        </p:blipFill>
        <p:spPr>
          <a:xfrm>
            <a:off x="7481345" y="5414525"/>
            <a:ext cx="3200400" cy="885825"/>
          </a:xfrm>
          <a:prstGeom prst="rect">
            <a:avLst/>
          </a:prstGeom>
        </p:spPr>
      </p:pic>
      <p:pic>
        <p:nvPicPr>
          <p:cNvPr id="7" name="圖片 6"/>
          <p:cNvPicPr>
            <a:picLocks noChangeAspect="1"/>
          </p:cNvPicPr>
          <p:nvPr/>
        </p:nvPicPr>
        <p:blipFill>
          <a:blip r:embed="rId4"/>
          <a:stretch>
            <a:fillRect/>
          </a:stretch>
        </p:blipFill>
        <p:spPr>
          <a:xfrm>
            <a:off x="7481345" y="1771378"/>
            <a:ext cx="3657600" cy="1695450"/>
          </a:xfrm>
          <a:prstGeom prst="rect">
            <a:avLst/>
          </a:prstGeom>
        </p:spPr>
      </p:pic>
      <p:sp>
        <p:nvSpPr>
          <p:cNvPr id="3" name="文字方塊 2"/>
          <p:cNvSpPr txBox="1"/>
          <p:nvPr/>
        </p:nvSpPr>
        <p:spPr>
          <a:xfrm>
            <a:off x="302622" y="666208"/>
            <a:ext cx="8671561" cy="46166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2400" dirty="0" smtClean="0">
                <a:solidFill>
                  <a:schemeClr val="tx1"/>
                </a:solidFill>
              </a:rPr>
              <a:t>2)Approve/Reject Test BOM</a:t>
            </a:r>
          </a:p>
        </p:txBody>
      </p:sp>
      <p:sp>
        <p:nvSpPr>
          <p:cNvPr id="6" name="矩形 5"/>
          <p:cNvSpPr/>
          <p:nvPr/>
        </p:nvSpPr>
        <p:spPr>
          <a:xfrm>
            <a:off x="302622" y="1154143"/>
            <a:ext cx="11754395" cy="1477328"/>
          </a:xfrm>
          <a:prstGeom prst="rect">
            <a:avLst/>
          </a:prstGeom>
        </p:spPr>
        <p:txBody>
          <a:bodyPr wrap="square">
            <a:spAutoFit/>
          </a:bodyPr>
          <a:lstStyle/>
          <a:p>
            <a:r>
              <a:rPr lang="en-US" altLang="zh-TW" i="1" dirty="0" smtClean="0"/>
              <a:t>Follow the instruction to enter some information to complete the DB updating.</a:t>
            </a:r>
          </a:p>
          <a:p>
            <a:endParaRPr lang="en-US" altLang="zh-TW" i="1" dirty="0"/>
          </a:p>
          <a:p>
            <a:r>
              <a:rPr lang="en-US" altLang="zh-TW" i="1" dirty="0" smtClean="0"/>
              <a:t>1)The approver’s name or Employee ID.</a:t>
            </a:r>
          </a:p>
          <a:p>
            <a:r>
              <a:rPr lang="en-US" altLang="zh-TW" i="1" dirty="0" smtClean="0"/>
              <a:t>2)Enter the reason/comment</a:t>
            </a:r>
          </a:p>
          <a:p>
            <a:r>
              <a:rPr lang="en-US" altLang="zh-TW" i="1" dirty="0" smtClean="0"/>
              <a:t>3)Make sure you see “Done“ message</a:t>
            </a:r>
          </a:p>
        </p:txBody>
      </p:sp>
      <p:sp>
        <p:nvSpPr>
          <p:cNvPr id="10" name="向下箭號 9"/>
          <p:cNvSpPr/>
          <p:nvPr/>
        </p:nvSpPr>
        <p:spPr>
          <a:xfrm>
            <a:off x="7649391" y="3248706"/>
            <a:ext cx="945970"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向下箭號 10"/>
          <p:cNvSpPr/>
          <p:nvPr/>
        </p:nvSpPr>
        <p:spPr>
          <a:xfrm>
            <a:off x="7606530" y="4811257"/>
            <a:ext cx="932739" cy="7155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9877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5421086" y="2756263"/>
            <a:ext cx="1828800" cy="1015663"/>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zh-TW" sz="6000" dirty="0" smtClean="0">
                <a:solidFill>
                  <a:schemeClr val="tx1"/>
                </a:solidFill>
              </a:rPr>
              <a:t>End</a:t>
            </a:r>
            <a:endParaRPr lang="zh-TW" altLang="en-US" sz="6000" dirty="0">
              <a:solidFill>
                <a:schemeClr val="tx1"/>
              </a:solidFill>
            </a:endParaRPr>
          </a:p>
        </p:txBody>
      </p:sp>
    </p:spTree>
    <p:extLst>
      <p:ext uri="{BB962C8B-B14F-4D97-AF65-F5344CB8AC3E}">
        <p14:creationId xmlns:p14="http://schemas.microsoft.com/office/powerpoint/2010/main" val="383596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5"/>
        </a:solidFill>
        <a:ln>
          <a:noFill/>
        </a:ln>
      </a:spPr>
      <a:bodyPr wrap="square" rtlCol="0">
        <a:spAutoFit/>
      </a:bodyPr>
      <a:lstStyle>
        <a:defPPr>
          <a:defRPr dirty="0"/>
        </a:defPPr>
      </a:lstStyle>
      <a:style>
        <a:lnRef idx="0">
          <a:scrgbClr r="0" g="0" b="0"/>
        </a:lnRef>
        <a:fillRef idx="0">
          <a:scrgbClr r="0" g="0" b="0"/>
        </a:fillRef>
        <a:effectRef idx="0">
          <a:scrgbClr r="0" g="0" b="0"/>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_dlc_DocId xmlns="025b591c-348b-41a8-bf3e-44090883363a">CAPHFAYQ2KJJ-636-977</_dlc_DocId>
    <_dlc_DocIdUrl xmlns="025b591c-348b-41a8-bf3e-44090883363a">
      <Url>http://mfgkm-wmx.wistron.com/P2-Warroom/Wiwynn-MX/_layouts/DocIdRedir.aspx?ID=CAPHFAYQ2KJJ-636-977</Url>
      <Description>CAPHFAYQ2KJJ-636-977</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9C4267A153DE254D97333137CACEED5F" ma:contentTypeVersion="0" ma:contentTypeDescription="Create a new document." ma:contentTypeScope="" ma:versionID="f694c24c90d1f26a9ba3c47ac0bfa9d4">
  <xsd:schema xmlns:xsd="http://www.w3.org/2001/XMLSchema" xmlns:xs="http://www.w3.org/2001/XMLSchema" xmlns:p="http://schemas.microsoft.com/office/2006/metadata/properties" xmlns:ns2="025b591c-348b-41a8-bf3e-44090883363a" targetNamespace="http://schemas.microsoft.com/office/2006/metadata/properties" ma:root="true" ma:fieldsID="6dc43e01ccd7a558f98fc636a69bc394" ns2:_="">
    <xsd:import namespace="025b591c-348b-41a8-bf3e-44090883363a"/>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5b591c-348b-41a8-bf3e-44090883363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44D257-8D43-4A11-B422-0831BB3D9936}">
  <ds:schemaRefs>
    <ds:schemaRef ds:uri="http://schemas.microsoft.com/sharepoint/v3/contenttype/forms"/>
  </ds:schemaRefs>
</ds:datastoreItem>
</file>

<file path=customXml/itemProps2.xml><?xml version="1.0" encoding="utf-8"?>
<ds:datastoreItem xmlns:ds="http://schemas.openxmlformats.org/officeDocument/2006/customXml" ds:itemID="{29253D25-1C87-4885-BA26-D62771507FA1}">
  <ds:schemaRefs>
    <ds:schemaRef ds:uri="025b591c-348b-41a8-bf3e-44090883363a"/>
    <ds:schemaRef ds:uri="http://schemas.openxmlformats.org/package/2006/metadata/core-properties"/>
    <ds:schemaRef ds:uri="http://purl.org/dc/elements/1.1/"/>
    <ds:schemaRef ds:uri="http://schemas.microsoft.com/office/2006/documentManagement/types"/>
    <ds:schemaRef ds:uri="http://purl.org/dc/terms/"/>
    <ds:schemaRef ds:uri="http://schemas.microsoft.com/office/infopath/2007/PartnerControls"/>
    <ds:schemaRef ds:uri="http://purl.org/dc/dcmityp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885CB91-76B4-4540-89AF-20A72832EFCB}">
  <ds:schemaRefs>
    <ds:schemaRef ds:uri="http://schemas.microsoft.com/sharepoint/events"/>
  </ds:schemaRefs>
</ds:datastoreItem>
</file>

<file path=customXml/itemProps4.xml><?xml version="1.0" encoding="utf-8"?>
<ds:datastoreItem xmlns:ds="http://schemas.openxmlformats.org/officeDocument/2006/customXml" ds:itemID="{033676DC-52D3-427E-A344-676059E262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5b591c-348b-41a8-bf3e-4409088336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3606</TotalTime>
  <Words>1567</Words>
  <Application>Microsoft Office PowerPoint</Application>
  <PresentationFormat>寬螢幕</PresentationFormat>
  <Paragraphs>254</Paragraphs>
  <Slides>43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43</vt:i4>
      </vt:variant>
    </vt:vector>
  </HeadingPairs>
  <TitlesOfParts>
    <vt:vector size="51" baseType="lpstr">
      <vt:lpstr>Microsoft YaHei</vt:lpstr>
      <vt:lpstr>Myriad Pro</vt:lpstr>
      <vt:lpstr>微軟正黑體</vt:lpstr>
      <vt:lpstr>新細明體</vt:lpstr>
      <vt:lpstr>Arial</vt:lpstr>
      <vt:lpstr>Calibri</vt:lpstr>
      <vt:lpstr>Wingdings</vt:lpstr>
      <vt:lpstr>Office 佈景主題</vt:lpstr>
      <vt:lpstr>MONICA TEST PROGRAM PARAMETER CHECKING</vt:lpstr>
      <vt:lpstr>PowerPoint 簡報</vt:lpstr>
      <vt:lpstr>PowerPoint 簡報</vt:lpstr>
      <vt:lpstr>PowerPoint 簡報</vt:lpstr>
      <vt:lpstr>PowerPoint 簡報</vt:lpstr>
      <vt:lpstr>PowerPoint 簡報</vt:lpstr>
      <vt:lpstr>PowerPoint 簡報</vt:lpstr>
      <vt:lpstr>PowerPoint 簡報</vt:lpstr>
      <vt:lpstr>MONICA TEST PROGRAM CREATE BOM DATA</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MONICA TEST PROGRAM COLLECT WCS CONFIGURATION FILE</vt:lpstr>
      <vt:lpstr>PowerPoint 簡報</vt:lpstr>
      <vt:lpstr>PowerPoint 簡報</vt:lpstr>
      <vt:lpstr>PowerPoint 簡報</vt:lpstr>
      <vt:lpstr>PowerPoint 簡報</vt:lpstr>
      <vt:lpstr>PowerPoint 簡報</vt:lpstr>
      <vt:lpstr>PowerPoint 簡報</vt:lpstr>
      <vt:lpstr>PowerPoint 簡報</vt:lpstr>
      <vt:lpstr>MONICA TEST PROGRAM APPROVE BOM DATA</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Facebook server</dc:title>
  <dc:creator>Bing Wu/WYHQ/Wiwynn</dc:creator>
  <cp:lastModifiedBy>Chingan Lee/WYHQ/Wiwynn</cp:lastModifiedBy>
  <cp:revision>524</cp:revision>
  <dcterms:created xsi:type="dcterms:W3CDTF">2017-01-04T04:51:59Z</dcterms:created>
  <dcterms:modified xsi:type="dcterms:W3CDTF">2019-06-11T03:53:40Z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0x0101009C4267A153DE254D97333137CACEED5F</vt:lpwstr>
  </property>
  <property fmtid="{D5CDD505-2E9C-101B-9397-08002B2CF9AE}" pid="3" name="_dlc_DocIdItemGuid">
    <vt:lpwstr>5a582e56-60ae-467b-ba6e-a049b20bace5</vt:lpwstr>
  </property>
</Properties>
</file>